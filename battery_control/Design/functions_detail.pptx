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96" d="100"/>
          <a:sy n="96" d="100"/>
        </p:scale>
        <p:origin x="80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3451"/>
          </a:xfrm>
        </p:spPr>
        <p:txBody>
          <a:bodyPr>
            <a:normAutofit/>
          </a:bodyPr>
          <a:lstStyle>
            <a:lvl1pPr>
              <a:defRPr sz="2800" baseline="0">
                <a:latin typeface="Arial" panose="020B0604020202020204" pitchFamily="34" charset="0"/>
                <a:ea typeface="BIZ UDゴシック" panose="020B0400000000000000" pitchFamily="49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2025/10/23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1592F-83F4-D22A-5532-843116D1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/>
              <a:t>simple-pid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789455A-8114-3D5E-04FE-0F4677FED6E5}"/>
              </a:ext>
            </a:extLst>
          </p:cNvPr>
          <p:cNvSpPr txBox="1"/>
          <p:nvPr/>
        </p:nvSpPr>
        <p:spPr>
          <a:xfrm>
            <a:off x="895382" y="9672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入力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BD45AB6F-5422-F95C-ED9E-74D347647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086298"/>
              </p:ext>
            </p:extLst>
          </p:nvPr>
        </p:nvGraphicFramePr>
        <p:xfrm>
          <a:off x="921600" y="1336555"/>
          <a:ext cx="10525542" cy="2084226"/>
        </p:xfrm>
        <a:graphic>
          <a:graphicData uri="http://schemas.openxmlformats.org/drawingml/2006/table">
            <a:tbl>
              <a:tblPr/>
              <a:tblGrid>
                <a:gridCol w="1836000">
                  <a:extLst>
                    <a:ext uri="{9D8B030D-6E8A-4147-A177-3AD203B41FA5}">
                      <a16:colId xmlns:a16="http://schemas.microsoft.com/office/drawing/2014/main" val="337609432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528985087"/>
                    </a:ext>
                  </a:extLst>
                </a:gridCol>
                <a:gridCol w="3354771">
                  <a:extLst>
                    <a:ext uri="{9D8B030D-6E8A-4147-A177-3AD203B41FA5}">
                      <a16:colId xmlns:a16="http://schemas.microsoft.com/office/drawing/2014/main" val="1334967635"/>
                    </a:ext>
                  </a:extLst>
                </a:gridCol>
                <a:gridCol w="3354771">
                  <a:extLst>
                    <a:ext uri="{9D8B030D-6E8A-4147-A177-3AD203B41FA5}">
                      <a16:colId xmlns:a16="http://schemas.microsoft.com/office/drawing/2014/main" val="147417088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名称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型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説明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設定値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29474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Kp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比例</a:t>
                      </a: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(0.5 * Ku) P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制御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0.5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13038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Ki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積分</a:t>
                      </a: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(0.45 * Ku ) PI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制御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0.1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51039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Kd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微分のゲイン</a:t>
                      </a: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(0.6 * Ku) PID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制御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0.05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73319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setpoint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目標値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I/F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から取得する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2526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current_value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現在温度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I/F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から取得する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00467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sample_time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コントローラの更新間隔（秒）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0.01s(10ms)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026298"/>
                  </a:ext>
                </a:extLst>
              </a:tr>
              <a:tr h="1238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output_limits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tuple(float float)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操作量上下限値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min_output(-10)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421329"/>
                  </a:ext>
                </a:extLst>
              </a:tr>
              <a:tr h="1238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max_output(10)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39191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4EBE9B-94E5-76FD-BAC2-F9FA80FC56DC}"/>
              </a:ext>
            </a:extLst>
          </p:cNvPr>
          <p:cNvSpPr txBox="1"/>
          <p:nvPr/>
        </p:nvSpPr>
        <p:spPr>
          <a:xfrm>
            <a:off x="895381" y="34372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出力</a:t>
            </a:r>
            <a:endParaRPr kumimoji="1" lang="ja-JP" altLang="en-US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D3AB2D13-B774-BCB9-48C4-466443FDC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278281"/>
              </p:ext>
            </p:extLst>
          </p:nvPr>
        </p:nvGraphicFramePr>
        <p:xfrm>
          <a:off x="921600" y="3965713"/>
          <a:ext cx="7543800" cy="445770"/>
        </p:xfrm>
        <a:graphic>
          <a:graphicData uri="http://schemas.openxmlformats.org/drawingml/2006/table">
            <a:tbl>
              <a:tblPr/>
              <a:tblGrid>
                <a:gridCol w="2010443">
                  <a:extLst>
                    <a:ext uri="{9D8B030D-6E8A-4147-A177-3AD203B41FA5}">
                      <a16:colId xmlns:a16="http://schemas.microsoft.com/office/drawing/2014/main" val="11178310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98378859"/>
                    </a:ext>
                  </a:extLst>
                </a:gridCol>
                <a:gridCol w="3704557">
                  <a:extLst>
                    <a:ext uri="{9D8B030D-6E8A-4147-A177-3AD203B41FA5}">
                      <a16:colId xmlns:a16="http://schemas.microsoft.com/office/drawing/2014/main" val="291795592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名称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型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説明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91922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control </a:t>
                      </a:r>
                      <a:r>
                        <a:rPr lang="en-US" sz="1400" b="0" i="0" u="none" strike="sng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/ output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float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調整値 （どちらの値も使用可能）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755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35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D935C1-552E-95BE-7515-ADDA5017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/>
              <a:t>method</a:t>
            </a:r>
            <a:r>
              <a:rPr lang="ja-JP" altLang="en-US"/>
              <a:t>：</a:t>
            </a:r>
            <a:r>
              <a:rPr lang="en-US" altLang="ja-JP">
                <a:latin typeface="BIZ UDゴシック" panose="020B0400000000000000" pitchFamily="49" charset="-128"/>
              </a:rPr>
              <a:t>is_temp_Normal()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8B88675-693F-FD14-EF57-AA4B316F17E2}"/>
              </a:ext>
            </a:extLst>
          </p:cNvPr>
          <p:cNvSpPr txBox="1"/>
          <p:nvPr/>
        </p:nvSpPr>
        <p:spPr>
          <a:xfrm>
            <a:off x="838200" y="19901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出力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533CEE10-FB6D-AD1D-6CD0-D08CB353F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73153"/>
              </p:ext>
            </p:extLst>
          </p:nvPr>
        </p:nvGraphicFramePr>
        <p:xfrm>
          <a:off x="921600" y="1336555"/>
          <a:ext cx="9857316" cy="471857"/>
        </p:xfrm>
        <a:graphic>
          <a:graphicData uri="http://schemas.openxmlformats.org/drawingml/2006/table">
            <a:tbl>
              <a:tblPr/>
              <a:tblGrid>
                <a:gridCol w="1908000">
                  <a:extLst>
                    <a:ext uri="{9D8B030D-6E8A-4147-A177-3AD203B41FA5}">
                      <a16:colId xmlns:a16="http://schemas.microsoft.com/office/drawing/2014/main" val="3376094323"/>
                    </a:ext>
                  </a:extLst>
                </a:gridCol>
                <a:gridCol w="501941">
                  <a:extLst>
                    <a:ext uri="{9D8B030D-6E8A-4147-A177-3AD203B41FA5}">
                      <a16:colId xmlns:a16="http://schemas.microsoft.com/office/drawing/2014/main" val="528985087"/>
                    </a:ext>
                  </a:extLst>
                </a:gridCol>
                <a:gridCol w="715375">
                  <a:extLst>
                    <a:ext uri="{9D8B030D-6E8A-4147-A177-3AD203B41FA5}">
                      <a16:colId xmlns:a16="http://schemas.microsoft.com/office/drawing/2014/main" val="1133745549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334967635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147417088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55430352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339063581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名称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型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説明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設定値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コメント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29474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In_CurrentTemperature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変数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1" lang="ja-JP" altLang="en-US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現在温度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current_temperature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I/F</a:t>
                      </a:r>
                      <a:r>
                        <a:rPr kumimoji="1" lang="ja-JP" altLang="en-US" sz="1400" b="0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から取得</a:t>
                      </a:r>
                      <a:endParaRPr kumimoji="1" lang="en-US" altLang="ja-JP" sz="1400" b="0" kern="1200">
                        <a:solidFill>
                          <a:schemeClr val="tx1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interface_def.py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13038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B9F8FF-97E9-D12D-82C0-73A6E58C09F6}"/>
              </a:ext>
            </a:extLst>
          </p:cNvPr>
          <p:cNvSpPr txBox="1"/>
          <p:nvPr/>
        </p:nvSpPr>
        <p:spPr>
          <a:xfrm>
            <a:off x="838200" y="9672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入力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13DCEBEC-61E0-4D1A-FA23-3C9F56398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588781"/>
              </p:ext>
            </p:extLst>
          </p:nvPr>
        </p:nvGraphicFramePr>
        <p:xfrm>
          <a:off x="957600" y="2409208"/>
          <a:ext cx="9929316" cy="969801"/>
        </p:xfrm>
        <a:graphic>
          <a:graphicData uri="http://schemas.openxmlformats.org/drawingml/2006/table">
            <a:tbl>
              <a:tblPr/>
              <a:tblGrid>
                <a:gridCol w="1980000">
                  <a:extLst>
                    <a:ext uri="{9D8B030D-6E8A-4147-A177-3AD203B41FA5}">
                      <a16:colId xmlns:a16="http://schemas.microsoft.com/office/drawing/2014/main" val="3376094323"/>
                    </a:ext>
                  </a:extLst>
                </a:gridCol>
                <a:gridCol w="501941">
                  <a:extLst>
                    <a:ext uri="{9D8B030D-6E8A-4147-A177-3AD203B41FA5}">
                      <a16:colId xmlns:a16="http://schemas.microsoft.com/office/drawing/2014/main" val="528985087"/>
                    </a:ext>
                  </a:extLst>
                </a:gridCol>
                <a:gridCol w="715375">
                  <a:extLst>
                    <a:ext uri="{9D8B030D-6E8A-4147-A177-3AD203B41FA5}">
                      <a16:colId xmlns:a16="http://schemas.microsoft.com/office/drawing/2014/main" val="1133745549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334967635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147417088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55430352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339063581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名称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型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説明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設定値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コメント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29474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Out_target_temperature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変数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目標温度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最適充電温度</a:t>
                      </a:r>
                      <a:r>
                        <a:rPr kumimoji="1" lang="ja-JP" altLang="en-US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をセット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400" b="0" kern="1200">
                        <a:solidFill>
                          <a:schemeClr val="tx1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temperature_params.py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13038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Out_CurrentTemperature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変数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現在温度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現在温度</a:t>
                      </a:r>
                      <a:r>
                        <a:rPr kumimoji="1" lang="ja-JP" alt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をセット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51039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Out_Operation_Mode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int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変数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加熱冷却モード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733197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2F46F1-71C3-685B-1AE8-FA24F2ADEF92}"/>
              </a:ext>
            </a:extLst>
          </p:cNvPr>
          <p:cNvSpPr txBox="1"/>
          <p:nvPr/>
        </p:nvSpPr>
        <p:spPr>
          <a:xfrm>
            <a:off x="838200" y="3748342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パラメータ定数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CEE518C3-3389-EDC3-6054-7FF2E27A3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974967"/>
              </p:ext>
            </p:extLst>
          </p:nvPr>
        </p:nvGraphicFramePr>
        <p:xfrm>
          <a:off x="1029600" y="4053700"/>
          <a:ext cx="9857316" cy="1467745"/>
        </p:xfrm>
        <a:graphic>
          <a:graphicData uri="http://schemas.openxmlformats.org/drawingml/2006/table">
            <a:tbl>
              <a:tblPr/>
              <a:tblGrid>
                <a:gridCol w="1908000">
                  <a:extLst>
                    <a:ext uri="{9D8B030D-6E8A-4147-A177-3AD203B41FA5}">
                      <a16:colId xmlns:a16="http://schemas.microsoft.com/office/drawing/2014/main" val="3376094323"/>
                    </a:ext>
                  </a:extLst>
                </a:gridCol>
                <a:gridCol w="501941">
                  <a:extLst>
                    <a:ext uri="{9D8B030D-6E8A-4147-A177-3AD203B41FA5}">
                      <a16:colId xmlns:a16="http://schemas.microsoft.com/office/drawing/2014/main" val="528985087"/>
                    </a:ext>
                  </a:extLst>
                </a:gridCol>
                <a:gridCol w="715375">
                  <a:extLst>
                    <a:ext uri="{9D8B030D-6E8A-4147-A177-3AD203B41FA5}">
                      <a16:colId xmlns:a16="http://schemas.microsoft.com/office/drawing/2014/main" val="1133745549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334967635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147417088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55430352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339063581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名称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型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説明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設定値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コメント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29474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OPTIMAL_CHARGE_TEMP 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定数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最適充電温度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後で決定）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temperature_params.py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13038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TOLERANCE_TEMP 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Float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定数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許容温度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5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51039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MODE_HOLD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enum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定数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加熱冷却モード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0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保持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733197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/>
                        <a:t>MODE_HEAT 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1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加熱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96967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/>
                        <a:t>MODE_COOL 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2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冷却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048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946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8E588F-6260-E420-2010-C1BE9530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/>
              <a:t>method</a:t>
            </a:r>
            <a:r>
              <a:rPr lang="ja-JP" altLang="en-US"/>
              <a:t>：</a:t>
            </a:r>
            <a:r>
              <a:rPr lang="en-US" altLang="ja-JP">
                <a:latin typeface="BIZ UDゴシック" panose="020B0400000000000000" pitchFamily="49" charset="-128"/>
              </a:rPr>
              <a:t>handle_charge_guide_state()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3FC0A78-130B-C65E-15D7-4467551C7406}"/>
              </a:ext>
            </a:extLst>
          </p:cNvPr>
          <p:cNvSpPr txBox="1"/>
          <p:nvPr/>
        </p:nvSpPr>
        <p:spPr>
          <a:xfrm>
            <a:off x="895382" y="9672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入力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53C1D84-6EC9-567A-6C2B-369FD64EB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195630"/>
              </p:ext>
            </p:extLst>
          </p:nvPr>
        </p:nvGraphicFramePr>
        <p:xfrm>
          <a:off x="921600" y="1336555"/>
          <a:ext cx="9857316" cy="2084226"/>
        </p:xfrm>
        <a:graphic>
          <a:graphicData uri="http://schemas.openxmlformats.org/drawingml/2006/table">
            <a:tbl>
              <a:tblPr/>
              <a:tblGrid>
                <a:gridCol w="1908000">
                  <a:extLst>
                    <a:ext uri="{9D8B030D-6E8A-4147-A177-3AD203B41FA5}">
                      <a16:colId xmlns:a16="http://schemas.microsoft.com/office/drawing/2014/main" val="3376094323"/>
                    </a:ext>
                  </a:extLst>
                </a:gridCol>
                <a:gridCol w="501941">
                  <a:extLst>
                    <a:ext uri="{9D8B030D-6E8A-4147-A177-3AD203B41FA5}">
                      <a16:colId xmlns:a16="http://schemas.microsoft.com/office/drawing/2014/main" val="528985087"/>
                    </a:ext>
                  </a:extLst>
                </a:gridCol>
                <a:gridCol w="715375">
                  <a:extLst>
                    <a:ext uri="{9D8B030D-6E8A-4147-A177-3AD203B41FA5}">
                      <a16:colId xmlns:a16="http://schemas.microsoft.com/office/drawing/2014/main" val="1133745549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334967635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147417088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55430352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339063581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名称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型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説明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設定値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コメント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29474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In_CurrentTemperature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変数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1" lang="ja-JP" altLang="en-US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現在温度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current_temperature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400" b="0" kern="1200">
                        <a:solidFill>
                          <a:schemeClr val="tx1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kern="120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interface_def.py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13038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OPTIMAL_CHARGE_TEMP 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Float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定数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最適充電温度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temperature_params.py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51039"/>
                  </a:ext>
                </a:extLst>
              </a:tr>
              <a:tr h="24897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TOLERANCE_TEMP 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Float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定数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許容温度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73319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HIGH_ALERT_THRESHOLD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Float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定数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高温警報出力閾値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2526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LOW_ALERT_THRESHOLD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Float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定数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低温警報出力閾値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00467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HIGH_STOP_THRESHOLD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Float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定数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高温停止閾値 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026298"/>
                  </a:ext>
                </a:extLst>
              </a:tr>
              <a:tr h="1238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LOW_STOP_THRESHOLD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Float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定数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低温停止閾値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421329"/>
                  </a:ext>
                </a:extLst>
              </a:tr>
              <a:tr h="1238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39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900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354</Words>
  <Application>Microsoft Office PowerPoint</Application>
  <PresentationFormat>ワイド画面</PresentationFormat>
  <Paragraphs>147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BIZ UDゴシック</vt:lpstr>
      <vt:lpstr>Aptos</vt:lpstr>
      <vt:lpstr>Aptos Display</vt:lpstr>
      <vt:lpstr>Arial</vt:lpstr>
      <vt:lpstr>Office テーマ</vt:lpstr>
      <vt:lpstr>simple-pid</vt:lpstr>
      <vt:lpstr>method：is_temp_Normal()</vt:lpstr>
      <vt:lpstr>method：handle_charge_guide_state()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Y</dc:creator>
  <cp:lastModifiedBy>K Y</cp:lastModifiedBy>
  <cp:revision>18</cp:revision>
  <dcterms:created xsi:type="dcterms:W3CDTF">2012-07-27T23:28:17Z</dcterms:created>
  <dcterms:modified xsi:type="dcterms:W3CDTF">2025-10-23T08:38:58Z</dcterms:modified>
</cp:coreProperties>
</file>