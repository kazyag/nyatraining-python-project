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60" r:id="rId2"/>
    <p:sldId id="261" r:id="rId3"/>
    <p:sldId id="262" r:id="rId4"/>
    <p:sldId id="263" r:id="rId5"/>
    <p:sldId id="264"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67" autoAdjust="0"/>
    <p:restoredTop sz="96139" autoAdjust="0"/>
  </p:normalViewPr>
  <p:slideViewPr>
    <p:cSldViewPr snapToGrid="0">
      <p:cViewPr varScale="1">
        <p:scale>
          <a:sx n="92" d="100"/>
          <a:sy n="92" d="100"/>
        </p:scale>
        <p:origin x="966" y="30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697D3-7A44-49CD-87EE-FA3C22D93BC0}" type="datetimeFigureOut">
              <a:rPr kumimoji="1" lang="ja-JP" altLang="en-US" smtClean="0"/>
              <a:t>2025/10/20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6E65C0-3A14-4415-9CA5-386A19C2EB74}" type="slidenum">
              <a:rPr kumimoji="1" lang="ja-JP" altLang="en-US" smtClean="0"/>
              <a:t>‹#›</a:t>
            </a:fld>
            <a:endParaRPr kumimoji="1" lang="ja-JP" altLang="en-US"/>
          </a:p>
        </p:txBody>
      </p:sp>
    </p:spTree>
    <p:extLst>
      <p:ext uri="{BB962C8B-B14F-4D97-AF65-F5344CB8AC3E}">
        <p14:creationId xmlns:p14="http://schemas.microsoft.com/office/powerpoint/2010/main" val="22991334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46E65C0-3A14-4415-9CA5-386A19C2EB74}" type="slidenum">
              <a:rPr kumimoji="1" lang="ja-JP" altLang="en-US" smtClean="0"/>
              <a:t>4</a:t>
            </a:fld>
            <a:endParaRPr kumimoji="1" lang="ja-JP" altLang="en-US"/>
          </a:p>
        </p:txBody>
      </p:sp>
    </p:spTree>
    <p:extLst>
      <p:ext uri="{BB962C8B-B14F-4D97-AF65-F5344CB8AC3E}">
        <p14:creationId xmlns:p14="http://schemas.microsoft.com/office/powerpoint/2010/main" val="860458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4910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051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08390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9540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797884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5"/>
            <a:ext cx="10515600" cy="433451"/>
          </a:xfrm>
        </p:spPr>
        <p:txBody>
          <a:bodyPr>
            <a:normAutofit/>
          </a:bodyPr>
          <a:lstStyle>
            <a:lvl1pPr>
              <a:defRPr sz="2800" baseline="0">
                <a:latin typeface="Arial" panose="020B0604020202020204" pitchFamily="34" charset="0"/>
                <a:ea typeface="BIZ UDゴシック" panose="020B0400000000000000" pitchFamily="49" charset="-128"/>
              </a:defRPr>
            </a:lvl1pPr>
          </a:lstStyle>
          <a:p>
            <a:r>
              <a:rPr kumimoji="1" lang="ja-JP" altLang="en-US" dirty="0"/>
              <a:t>マスター タイトルの書式設定</a:t>
            </a:r>
          </a:p>
        </p:txBody>
      </p:sp>
      <p:sp>
        <p:nvSpPr>
          <p:cNvPr id="3" name="日付プレースホルダー 2"/>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5395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286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884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18938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57574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2025/10/20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5086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2A643-9BB0-4E02-80B2-2C0A5E5D738E}" type="datetimeFigureOut">
              <a:rPr kumimoji="1" lang="ja-JP" altLang="en-US" smtClean="0"/>
              <a:t>2025/10/20</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81592F-83F4-D22A-5532-843116D156E0}"/>
              </a:ext>
            </a:extLst>
          </p:cNvPr>
          <p:cNvSpPr>
            <a:spLocks noGrp="1"/>
          </p:cNvSpPr>
          <p:nvPr>
            <p:ph type="title"/>
          </p:nvPr>
        </p:nvSpPr>
        <p:spPr/>
        <p:txBody>
          <a:bodyPr>
            <a:normAutofit fontScale="90000"/>
          </a:bodyPr>
          <a:lstStyle/>
          <a:p>
            <a:r>
              <a:rPr lang="en-US" altLang="ja-JP"/>
              <a:t>Github-python libraly seach</a:t>
            </a:r>
            <a:endParaRPr kumimoji="1" lang="ja-JP" altLang="en-US"/>
          </a:p>
        </p:txBody>
      </p:sp>
      <p:sp>
        <p:nvSpPr>
          <p:cNvPr id="3" name="テキスト ボックス 2">
            <a:extLst>
              <a:ext uri="{FF2B5EF4-FFF2-40B4-BE49-F238E27FC236}">
                <a16:creationId xmlns:a16="http://schemas.microsoft.com/office/drawing/2014/main" id="{6A0AFEEA-E745-641A-68D2-1A6D7090BCA9}"/>
              </a:ext>
            </a:extLst>
          </p:cNvPr>
          <p:cNvSpPr txBox="1"/>
          <p:nvPr/>
        </p:nvSpPr>
        <p:spPr>
          <a:xfrm>
            <a:off x="341244" y="890382"/>
            <a:ext cx="10423738" cy="4401205"/>
          </a:xfrm>
          <a:prstGeom prst="rect">
            <a:avLst/>
          </a:prstGeom>
          <a:noFill/>
        </p:spPr>
        <p:txBody>
          <a:bodyPr wrap="square" rtlCol="0">
            <a:spAutoFit/>
          </a:bodyPr>
          <a:lstStyle/>
          <a:p>
            <a:pPr marL="342900" indent="-342900">
              <a:buFont typeface="Arial" panose="020B0604020202020204" pitchFamily="34" charset="0"/>
              <a:buChar char="•"/>
            </a:pPr>
            <a:r>
              <a:rPr lang="ja-JP" altLang="en-US" sz="1400">
                <a:latin typeface="BIZ UDゴシック" panose="020B0400000000000000" pitchFamily="49" charset="-128"/>
                <a:ea typeface="BIZ UDゴシック" panose="020B0400000000000000" pitchFamily="49" charset="-128"/>
              </a:rPr>
              <a:t>ライブラリを探すためのステップ</a:t>
            </a:r>
            <a:endParaRPr lang="en-US" altLang="ja-JP" sz="1400">
              <a:latin typeface="BIZ UDゴシック" panose="020B0400000000000000" pitchFamily="49" charset="-128"/>
              <a:ea typeface="BIZ UDゴシック" panose="020B0400000000000000" pitchFamily="49" charset="-128"/>
            </a:endParaRPr>
          </a:p>
          <a:p>
            <a:pPr marL="342900" indent="-342900">
              <a:buFont typeface="+mj-lt"/>
              <a:buAutoNum type="arabicPeriod"/>
              <a:tabLst>
                <a:tab pos="623888" algn="l"/>
              </a:tabLst>
            </a:pPr>
            <a:r>
              <a:rPr lang="ja-JP" altLang="en-US" sz="1400">
                <a:latin typeface="BIZ UDゴシック" panose="020B0400000000000000" pitchFamily="49" charset="-128"/>
                <a:ea typeface="BIZ UDゴシック" panose="020B0400000000000000" pitchFamily="49" charset="-128"/>
              </a:rPr>
              <a:t>機能のキーワードを英語に変換する</a:t>
            </a:r>
            <a:r>
              <a:rPr lang="en-US" altLang="ja-JP" sz="1400">
                <a:latin typeface="BIZ UDゴシック" panose="020B0400000000000000" pitchFamily="49" charset="-128"/>
                <a:ea typeface="BIZ UDゴシック" panose="020B0400000000000000" pitchFamily="49" charset="-128"/>
              </a:rPr>
              <a:t>:</a:t>
            </a:r>
          </a:p>
          <a:p>
            <a:pPr>
              <a:tabLst>
                <a:tab pos="623888" algn="l"/>
              </a:tabLst>
            </a:pPr>
            <a:r>
              <a:rPr lang="en-US" altLang="ja-JP" sz="1400">
                <a:latin typeface="BIZ UDゴシック" panose="020B0400000000000000" pitchFamily="49" charset="-128"/>
                <a:ea typeface="BIZ UDゴシック" panose="020B0400000000000000" pitchFamily="49" charset="-128"/>
              </a:rPr>
              <a:t>      Python</a:t>
            </a:r>
            <a:r>
              <a:rPr lang="ja-JP" altLang="en-US" sz="1400">
                <a:latin typeface="BIZ UDゴシック" panose="020B0400000000000000" pitchFamily="49" charset="-128"/>
                <a:ea typeface="BIZ UDゴシック" panose="020B0400000000000000" pitchFamily="49" charset="-128"/>
              </a:rPr>
              <a:t>ライブラリや技術情報は英語で公開されていることがほとんどです。「加熱冷却処理」は、より専門的な英</a:t>
            </a:r>
          </a:p>
          <a:p>
            <a:pPr>
              <a:tabLst>
                <a:tab pos="623888" algn="l"/>
              </a:tabLst>
            </a:pPr>
            <a:r>
              <a:rPr lang="ja-JP" altLang="en-US" sz="1400">
                <a:latin typeface="BIZ UDゴシック" panose="020B0400000000000000" pitchFamily="49" charset="-128"/>
                <a:ea typeface="BIZ UDゴシック" panose="020B0400000000000000" pitchFamily="49" charset="-128"/>
              </a:rPr>
              <a:t>  語キーワードにすると、関連ライブラリを見つけやすくなります。</a:t>
            </a:r>
          </a:p>
          <a:p>
            <a:pPr marL="742950" lvl="1" indent="-285750">
              <a:buFont typeface="Arial" panose="020B0604020202020204" pitchFamily="34" charset="0"/>
              <a:buChar char="•"/>
              <a:tabLst>
                <a:tab pos="623888" algn="l"/>
              </a:tabLst>
            </a:pPr>
            <a:r>
              <a:rPr lang="en-US" altLang="ja-JP" sz="1400">
                <a:latin typeface="BIZ UDゴシック" panose="020B0400000000000000" pitchFamily="49" charset="-128"/>
                <a:ea typeface="BIZ UDゴシック" panose="020B0400000000000000" pitchFamily="49" charset="-128"/>
              </a:rPr>
              <a:t>Temperature Control (</a:t>
            </a:r>
            <a:r>
              <a:rPr lang="ja-JP" altLang="en-US" sz="1400">
                <a:latin typeface="BIZ UDゴシック" panose="020B0400000000000000" pitchFamily="49" charset="-128"/>
                <a:ea typeface="BIZ UDゴシック" panose="020B0400000000000000" pitchFamily="49" charset="-128"/>
              </a:rPr>
              <a:t>温度制御</a:t>
            </a:r>
            <a:r>
              <a:rPr lang="en-US" altLang="ja-JP" sz="1400">
                <a:latin typeface="BIZ UDゴシック" panose="020B0400000000000000" pitchFamily="49" charset="-128"/>
                <a:ea typeface="BIZ UDゴシック" panose="020B0400000000000000" pitchFamily="49" charset="-128"/>
              </a:rPr>
              <a:t>)</a:t>
            </a:r>
          </a:p>
          <a:p>
            <a:pPr marL="742950" lvl="1" indent="-285750">
              <a:buFont typeface="Arial" panose="020B0604020202020204" pitchFamily="34" charset="0"/>
              <a:buChar char="•"/>
              <a:tabLst>
                <a:tab pos="623888" algn="l"/>
              </a:tabLst>
            </a:pPr>
            <a:r>
              <a:rPr lang="en-US" altLang="ja-JP" sz="1400">
                <a:latin typeface="BIZ UDゴシック" panose="020B0400000000000000" pitchFamily="49" charset="-128"/>
                <a:ea typeface="BIZ UDゴシック" panose="020B0400000000000000" pitchFamily="49" charset="-128"/>
              </a:rPr>
              <a:t>PID Controller (PID</a:t>
            </a:r>
            <a:r>
              <a:rPr lang="ja-JP" altLang="en-US" sz="1400">
                <a:latin typeface="BIZ UDゴシック" panose="020B0400000000000000" pitchFamily="49" charset="-128"/>
                <a:ea typeface="BIZ UDゴシック" panose="020B0400000000000000" pitchFamily="49" charset="-128"/>
              </a:rPr>
              <a:t>制御 </a:t>
            </a:r>
            <a:r>
              <a:rPr lang="en-US" altLang="ja-JP" sz="1400">
                <a:latin typeface="BIZ UDゴシック" panose="020B0400000000000000" pitchFamily="49" charset="-128"/>
                <a:ea typeface="BIZ UDゴシック" panose="020B0400000000000000" pitchFamily="49" charset="-128"/>
              </a:rPr>
              <a:t>- </a:t>
            </a:r>
            <a:r>
              <a:rPr lang="ja-JP" altLang="en-US" sz="1400">
                <a:latin typeface="BIZ UDゴシック" panose="020B0400000000000000" pitchFamily="49" charset="-128"/>
                <a:ea typeface="BIZ UDゴシック" panose="020B0400000000000000" pitchFamily="49" charset="-128"/>
              </a:rPr>
              <a:t>温度制御で最も一般的に使われるアルゴリズム</a:t>
            </a:r>
            <a:r>
              <a:rPr lang="en-US" altLang="ja-JP" sz="1400">
                <a:latin typeface="BIZ UDゴシック" panose="020B0400000000000000" pitchFamily="49" charset="-128"/>
                <a:ea typeface="BIZ UDゴシック" panose="020B0400000000000000" pitchFamily="49" charset="-128"/>
              </a:rPr>
              <a:t>)</a:t>
            </a:r>
          </a:p>
          <a:p>
            <a:pPr marL="742950" lvl="1" indent="-285750">
              <a:buFont typeface="Arial" panose="020B0604020202020204" pitchFamily="34" charset="0"/>
              <a:buChar char="•"/>
              <a:tabLst>
                <a:tab pos="623888" algn="l"/>
              </a:tabLst>
            </a:pPr>
            <a:r>
              <a:rPr lang="en-US" altLang="ja-JP" sz="1400">
                <a:latin typeface="BIZ UDゴシック" panose="020B0400000000000000" pitchFamily="49" charset="-128"/>
                <a:ea typeface="BIZ UDゴシック" panose="020B0400000000000000" pitchFamily="49" charset="-128"/>
              </a:rPr>
              <a:t>Control System (</a:t>
            </a:r>
            <a:r>
              <a:rPr lang="ja-JP" altLang="en-US" sz="1400">
                <a:latin typeface="BIZ UDゴシック" panose="020B0400000000000000" pitchFamily="49" charset="-128"/>
                <a:ea typeface="BIZ UDゴシック" panose="020B0400000000000000" pitchFamily="49" charset="-128"/>
              </a:rPr>
              <a:t>制御システム</a:t>
            </a:r>
            <a:r>
              <a:rPr lang="en-US" altLang="ja-JP" sz="1400">
                <a:latin typeface="BIZ UDゴシック" panose="020B0400000000000000" pitchFamily="49" charset="-128"/>
                <a:ea typeface="BIZ UDゴシック" panose="020B0400000000000000" pitchFamily="49" charset="-128"/>
              </a:rPr>
              <a:t>)</a:t>
            </a:r>
          </a:p>
          <a:p>
            <a:pPr marL="742950" lvl="1" indent="-285750">
              <a:buFont typeface="Arial" panose="020B0604020202020204" pitchFamily="34" charset="0"/>
              <a:buChar char="•"/>
              <a:tabLst>
                <a:tab pos="623888" algn="l"/>
              </a:tabLst>
            </a:pPr>
            <a:r>
              <a:rPr lang="en-US" altLang="ja-JP" sz="1400">
                <a:latin typeface="BIZ UDゴシック" panose="020B0400000000000000" pitchFamily="49" charset="-128"/>
                <a:ea typeface="BIZ UDゴシック" panose="020B0400000000000000" pitchFamily="49" charset="-128"/>
              </a:rPr>
              <a:t>Battery Management System (BMS)</a:t>
            </a:r>
          </a:p>
          <a:p>
            <a:pPr>
              <a:tabLst>
                <a:tab pos="623888" algn="l"/>
              </a:tabLst>
            </a:pPr>
            <a:endParaRPr lang="en-US" altLang="ja-JP" sz="1400">
              <a:latin typeface="BIZ UDゴシック" panose="020B0400000000000000" pitchFamily="49" charset="-128"/>
              <a:ea typeface="BIZ UDゴシック" panose="020B0400000000000000" pitchFamily="49" charset="-128"/>
            </a:endParaRPr>
          </a:p>
          <a:p>
            <a:pPr marL="342900" indent="-342900">
              <a:buFont typeface="+mj-lt"/>
              <a:buAutoNum type="arabicPeriod" startAt="2"/>
              <a:tabLst>
                <a:tab pos="623888" algn="l"/>
              </a:tabLst>
            </a:pPr>
            <a:r>
              <a:rPr lang="en-US" altLang="ja-JP" sz="1400">
                <a:latin typeface="BIZ UDゴシック" panose="020B0400000000000000" pitchFamily="49" charset="-128"/>
                <a:ea typeface="BIZ UDゴシック" panose="020B0400000000000000" pitchFamily="49" charset="-128"/>
              </a:rPr>
              <a:t>GitHub</a:t>
            </a:r>
            <a:r>
              <a:rPr lang="ja-JP" altLang="en-US" sz="1400">
                <a:latin typeface="BIZ UDゴシック" panose="020B0400000000000000" pitchFamily="49" charset="-128"/>
                <a:ea typeface="BIZ UDゴシック" panose="020B0400000000000000" pitchFamily="49" charset="-128"/>
              </a:rPr>
              <a:t>と</a:t>
            </a:r>
            <a:r>
              <a:rPr lang="en-US" altLang="ja-JP" sz="1400">
                <a:latin typeface="BIZ UDゴシック" panose="020B0400000000000000" pitchFamily="49" charset="-128"/>
                <a:ea typeface="BIZ UDゴシック" panose="020B0400000000000000" pitchFamily="49" charset="-128"/>
              </a:rPr>
              <a:t>Google</a:t>
            </a:r>
            <a:r>
              <a:rPr lang="ja-JP" altLang="en-US" sz="1400">
                <a:latin typeface="BIZ UDゴシック" panose="020B0400000000000000" pitchFamily="49" charset="-128"/>
                <a:ea typeface="BIZ UDゴシック" panose="020B0400000000000000" pitchFamily="49" charset="-128"/>
              </a:rPr>
              <a:t>で検索する</a:t>
            </a:r>
            <a:r>
              <a:rPr lang="en-US" altLang="ja-JP" sz="1400">
                <a:latin typeface="BIZ UDゴシック" panose="020B0400000000000000" pitchFamily="49" charset="-128"/>
                <a:ea typeface="BIZ UDゴシック" panose="020B0400000000000000" pitchFamily="49" charset="-128"/>
              </a:rPr>
              <a:t>:</a:t>
            </a:r>
          </a:p>
          <a:p>
            <a:pPr>
              <a:tabLst>
                <a:tab pos="623888" algn="l"/>
              </a:tabLst>
            </a:pPr>
            <a:r>
              <a:rPr lang="en-US" altLang="ja-JP" sz="1400">
                <a:latin typeface="BIZ UDゴシック" panose="020B0400000000000000" pitchFamily="49" charset="-128"/>
                <a:ea typeface="BIZ UDゴシック" panose="020B0400000000000000" pitchFamily="49" charset="-128"/>
              </a:rPr>
              <a:t>      </a:t>
            </a:r>
            <a:r>
              <a:rPr lang="ja-JP" altLang="en-US" sz="1400">
                <a:latin typeface="BIZ UDゴシック" panose="020B0400000000000000" pitchFamily="49" charset="-128"/>
                <a:ea typeface="BIZ UDゴシック" panose="020B0400000000000000" pitchFamily="49" charset="-128"/>
              </a:rPr>
              <a:t>これらのキーワードを使って、</a:t>
            </a:r>
            <a:r>
              <a:rPr lang="en-US" altLang="ja-JP" sz="1400">
                <a:latin typeface="BIZ UDゴシック" panose="020B0400000000000000" pitchFamily="49" charset="-128"/>
                <a:ea typeface="BIZ UDゴシック" panose="020B0400000000000000" pitchFamily="49" charset="-128"/>
              </a:rPr>
              <a:t>GitHub</a:t>
            </a:r>
            <a:r>
              <a:rPr lang="ja-JP" altLang="en-US" sz="1400">
                <a:latin typeface="BIZ UDゴシック" panose="020B0400000000000000" pitchFamily="49" charset="-128"/>
                <a:ea typeface="BIZ UDゴシック" panose="020B0400000000000000" pitchFamily="49" charset="-128"/>
              </a:rPr>
              <a:t>と</a:t>
            </a:r>
            <a:r>
              <a:rPr lang="en-US" altLang="ja-JP" sz="1400">
                <a:latin typeface="BIZ UDゴシック" panose="020B0400000000000000" pitchFamily="49" charset="-128"/>
                <a:ea typeface="BIZ UDゴシック" panose="020B0400000000000000" pitchFamily="49" charset="-128"/>
              </a:rPr>
              <a:t>Google</a:t>
            </a:r>
            <a:r>
              <a:rPr lang="ja-JP" altLang="en-US" sz="1400">
                <a:latin typeface="BIZ UDゴシック" panose="020B0400000000000000" pitchFamily="49" charset="-128"/>
                <a:ea typeface="BIZ UDゴシック" panose="020B0400000000000000" pitchFamily="49" charset="-128"/>
              </a:rPr>
              <a:t>で検索します。</a:t>
            </a:r>
            <a:endParaRPr lang="en-US" altLang="ja-JP" sz="1400">
              <a:latin typeface="BIZ UDゴシック" panose="020B0400000000000000" pitchFamily="49" charset="-128"/>
              <a:ea typeface="BIZ UDゴシック" panose="020B0400000000000000" pitchFamily="49" charset="-128"/>
            </a:endParaRPr>
          </a:p>
          <a:p>
            <a:pPr marL="285750" indent="-285750">
              <a:buFont typeface="Arial" panose="020B0604020202020204" pitchFamily="34" charset="0"/>
              <a:buChar char="•"/>
              <a:tabLst>
                <a:tab pos="623888" algn="l"/>
              </a:tabLst>
            </a:pPr>
            <a:r>
              <a:rPr lang="en-US" altLang="ja-JP" sz="1400">
                <a:latin typeface="BIZ UDゴシック" panose="020B0400000000000000" pitchFamily="49" charset="-128"/>
                <a:ea typeface="BIZ UDゴシック" panose="020B0400000000000000" pitchFamily="49" charset="-128"/>
              </a:rPr>
              <a:t>GitHub:</a:t>
            </a:r>
          </a:p>
          <a:p>
            <a:pPr marL="742950" lvl="1" indent="-285750">
              <a:buFont typeface="Arial" panose="020B0604020202020204" pitchFamily="34" charset="0"/>
              <a:buChar char="•"/>
              <a:tabLst>
                <a:tab pos="623888" algn="l"/>
              </a:tabLst>
            </a:pPr>
            <a:r>
              <a:rPr lang="ja-JP" altLang="en-US" sz="1400">
                <a:latin typeface="BIZ UDゴシック" panose="020B0400000000000000" pitchFamily="49" charset="-128"/>
                <a:ea typeface="BIZ UDゴシック" panose="020B0400000000000000" pitchFamily="49" charset="-128"/>
              </a:rPr>
              <a:t>リポジトリ検索でキーワードを入力し、言語を「</a:t>
            </a:r>
            <a:r>
              <a:rPr lang="en-US" altLang="ja-JP" sz="1400">
                <a:latin typeface="BIZ UDゴシック" panose="020B0400000000000000" pitchFamily="49" charset="-128"/>
                <a:ea typeface="BIZ UDゴシック" panose="020B0400000000000000" pitchFamily="49" charset="-128"/>
              </a:rPr>
              <a:t>Python</a:t>
            </a:r>
            <a:r>
              <a:rPr lang="ja-JP" altLang="en-US" sz="1400">
                <a:latin typeface="BIZ UDゴシック" panose="020B0400000000000000" pitchFamily="49" charset="-128"/>
                <a:ea typeface="BIZ UDゴシック" panose="020B0400000000000000" pitchFamily="49" charset="-128"/>
              </a:rPr>
              <a:t>」に絞り込みます。</a:t>
            </a:r>
          </a:p>
          <a:p>
            <a:pPr marL="742950" lvl="1" indent="-285750">
              <a:buFont typeface="Arial" panose="020B0604020202020204" pitchFamily="34" charset="0"/>
              <a:buChar char="•"/>
              <a:tabLst>
                <a:tab pos="623888" algn="l"/>
              </a:tabLst>
            </a:pPr>
            <a:r>
              <a:rPr lang="ja-JP" altLang="en-US" sz="1400">
                <a:latin typeface="BIZ UDゴシック" panose="020B0400000000000000" pitchFamily="49" charset="-128"/>
                <a:ea typeface="BIZ UDゴシック" panose="020B0400000000000000" pitchFamily="49" charset="-128"/>
              </a:rPr>
              <a:t>これにより、同様のシステムを実装している他の開発者のコードや、利用されているライブラリを見つける             ことができます。</a:t>
            </a:r>
            <a:endParaRPr lang="en-US" altLang="ja-JP" sz="1400">
              <a:latin typeface="BIZ UDゴシック" panose="020B0400000000000000" pitchFamily="49" charset="-128"/>
              <a:ea typeface="BIZ UDゴシック" panose="020B0400000000000000" pitchFamily="49" charset="-128"/>
            </a:endParaRPr>
          </a:p>
          <a:p>
            <a:pPr marL="285750" indent="-285750">
              <a:buFont typeface="Arial" panose="020B0604020202020204" pitchFamily="34" charset="0"/>
              <a:buChar char="•"/>
              <a:tabLst>
                <a:tab pos="623888" algn="l"/>
              </a:tabLst>
            </a:pPr>
            <a:r>
              <a:rPr lang="en-US" altLang="ja-JP" sz="1400">
                <a:latin typeface="BIZ UDゴシック" panose="020B0400000000000000" pitchFamily="49" charset="-128"/>
                <a:ea typeface="BIZ UDゴシック" panose="020B0400000000000000" pitchFamily="49" charset="-128"/>
              </a:rPr>
              <a:t>Google:</a:t>
            </a:r>
          </a:p>
          <a:p>
            <a:pPr marL="742950" lvl="1" indent="-285750">
              <a:buFont typeface="Arial" panose="020B0604020202020204" pitchFamily="34" charset="0"/>
              <a:buChar char="•"/>
              <a:tabLst>
                <a:tab pos="623888" algn="l"/>
              </a:tabLst>
            </a:pPr>
            <a:r>
              <a:rPr lang="en-US" altLang="ja-JP" sz="1400">
                <a:latin typeface="BIZ UDゴシック" panose="020B0400000000000000" pitchFamily="49" charset="-128"/>
                <a:ea typeface="BIZ UDゴシック" panose="020B0400000000000000" pitchFamily="49" charset="-128"/>
              </a:rPr>
              <a:t>python library for temperature control </a:t>
            </a:r>
            <a:r>
              <a:rPr lang="ja-JP" altLang="en-US" sz="1400">
                <a:latin typeface="BIZ UDゴシック" panose="020B0400000000000000" pitchFamily="49" charset="-128"/>
                <a:ea typeface="BIZ UDゴシック" panose="020B0400000000000000" pitchFamily="49" charset="-128"/>
              </a:rPr>
              <a:t>や </a:t>
            </a:r>
            <a:r>
              <a:rPr lang="en-US" altLang="ja-JP" sz="1400">
                <a:latin typeface="BIZ UDゴシック" panose="020B0400000000000000" pitchFamily="49" charset="-128"/>
                <a:ea typeface="BIZ UDゴシック" panose="020B0400000000000000" pitchFamily="49" charset="-128"/>
              </a:rPr>
              <a:t>python pid controller </a:t>
            </a:r>
            <a:r>
              <a:rPr lang="ja-JP" altLang="en-US" sz="1400">
                <a:latin typeface="BIZ UDゴシック" panose="020B0400000000000000" pitchFamily="49" charset="-128"/>
                <a:ea typeface="BIZ UDゴシック" panose="020B0400000000000000" pitchFamily="49" charset="-128"/>
              </a:rPr>
              <a:t>のように、</a:t>
            </a:r>
            <a:r>
              <a:rPr lang="en-US" altLang="ja-JP" sz="1400">
                <a:latin typeface="BIZ UDゴシック" panose="020B0400000000000000" pitchFamily="49" charset="-128"/>
                <a:ea typeface="BIZ UDゴシック" panose="020B0400000000000000" pitchFamily="49" charset="-128"/>
              </a:rPr>
              <a:t>"python library for"             </a:t>
            </a:r>
            <a:r>
              <a:rPr lang="ja-JP" altLang="en-US" sz="1400">
                <a:latin typeface="BIZ UDゴシック" panose="020B0400000000000000" pitchFamily="49" charset="-128"/>
                <a:ea typeface="BIZ UDゴシック" panose="020B0400000000000000" pitchFamily="49" charset="-128"/>
              </a:rPr>
              <a:t>を付けて検索すると、ライブラリの公式ドキュメントやチュートリアルが見つかりやすいです。</a:t>
            </a:r>
            <a:endParaRPr lang="en-US" altLang="ja-JP" sz="1400">
              <a:latin typeface="BIZ UDゴシック" panose="020B0400000000000000" pitchFamily="49" charset="-128"/>
              <a:ea typeface="BIZ UDゴシック" panose="020B0400000000000000" pitchFamily="49" charset="-128"/>
            </a:endParaRPr>
          </a:p>
          <a:p>
            <a:pPr marL="342900" indent="-342900">
              <a:buFont typeface="+mj-lt"/>
              <a:buAutoNum type="arabicPeriod" startAt="3"/>
              <a:tabLst>
                <a:tab pos="623888" algn="l"/>
              </a:tabLst>
            </a:pPr>
            <a:r>
              <a:rPr lang="en-US" altLang="ja-JP" sz="1400">
                <a:latin typeface="BIZ UDゴシック" panose="020B0400000000000000" pitchFamily="49" charset="-128"/>
                <a:ea typeface="BIZ UDゴシック" panose="020B0400000000000000" pitchFamily="49" charset="-128"/>
              </a:rPr>
              <a:t>PyPI (Python Package Index)</a:t>
            </a:r>
            <a:r>
              <a:rPr lang="ja-JP" altLang="en-US" sz="1400">
                <a:latin typeface="BIZ UDゴシック" panose="020B0400000000000000" pitchFamily="49" charset="-128"/>
                <a:ea typeface="BIZ UDゴシック" panose="020B0400000000000000" pitchFamily="49" charset="-128"/>
              </a:rPr>
              <a:t>で探す</a:t>
            </a:r>
            <a:r>
              <a:rPr lang="en-US" altLang="ja-JP" sz="1400">
                <a:latin typeface="BIZ UDゴシック" panose="020B0400000000000000" pitchFamily="49" charset="-128"/>
                <a:ea typeface="BIZ UDゴシック" panose="020B0400000000000000" pitchFamily="49" charset="-128"/>
              </a:rPr>
              <a:t>:</a:t>
            </a:r>
          </a:p>
          <a:p>
            <a:pPr>
              <a:tabLst>
                <a:tab pos="623888" algn="l"/>
              </a:tabLst>
            </a:pPr>
            <a:r>
              <a:rPr lang="en-US" altLang="ja-JP" sz="1400">
                <a:latin typeface="BIZ UDゴシック" panose="020B0400000000000000" pitchFamily="49" charset="-128"/>
                <a:ea typeface="BIZ UDゴシック" panose="020B0400000000000000" pitchFamily="49" charset="-128"/>
              </a:rPr>
              <a:t>      Python</a:t>
            </a:r>
            <a:r>
              <a:rPr lang="ja-JP" altLang="en-US" sz="1400">
                <a:latin typeface="BIZ UDゴシック" panose="020B0400000000000000" pitchFamily="49" charset="-128"/>
                <a:ea typeface="BIZ UDゴシック" panose="020B0400000000000000" pitchFamily="49" charset="-128"/>
              </a:rPr>
              <a:t>の公式パッケージリポジトリである</a:t>
            </a:r>
            <a:r>
              <a:rPr lang="en-US" altLang="ja-JP" sz="1400">
                <a:latin typeface="BIZ UDゴシック" panose="020B0400000000000000" pitchFamily="49" charset="-128"/>
                <a:ea typeface="BIZ UDゴシック" panose="020B0400000000000000" pitchFamily="49" charset="-128"/>
              </a:rPr>
              <a:t>PyPI</a:t>
            </a:r>
            <a:r>
              <a:rPr lang="ja-JP" altLang="en-US" sz="1400">
                <a:latin typeface="BIZ UDゴシック" panose="020B0400000000000000" pitchFamily="49" charset="-128"/>
                <a:ea typeface="BIZ UDゴシック" panose="020B0400000000000000" pitchFamily="49" charset="-128"/>
              </a:rPr>
              <a:t>でキーワード検索するのも有効です。</a:t>
            </a:r>
          </a:p>
        </p:txBody>
      </p:sp>
    </p:spTree>
    <p:extLst>
      <p:ext uri="{BB962C8B-B14F-4D97-AF65-F5344CB8AC3E}">
        <p14:creationId xmlns:p14="http://schemas.microsoft.com/office/powerpoint/2010/main" val="816352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F955BA-8D42-28DC-F886-4A99A0BA4BDC}"/>
              </a:ext>
            </a:extLst>
          </p:cNvPr>
          <p:cNvSpPr>
            <a:spLocks noGrp="1"/>
          </p:cNvSpPr>
          <p:nvPr>
            <p:ph type="title"/>
          </p:nvPr>
        </p:nvSpPr>
        <p:spPr/>
        <p:txBody>
          <a:bodyPr>
            <a:normAutofit fontScale="90000"/>
          </a:bodyPr>
          <a:lstStyle/>
          <a:p>
            <a:endParaRPr kumimoji="1" lang="ja-JP" altLang="en-US"/>
          </a:p>
        </p:txBody>
      </p:sp>
      <p:sp>
        <p:nvSpPr>
          <p:cNvPr id="5" name="テキスト ボックス 4">
            <a:extLst>
              <a:ext uri="{FF2B5EF4-FFF2-40B4-BE49-F238E27FC236}">
                <a16:creationId xmlns:a16="http://schemas.microsoft.com/office/drawing/2014/main" id="{249FB2A3-515F-48F5-3C27-5C45AD03ACAA}"/>
              </a:ext>
            </a:extLst>
          </p:cNvPr>
          <p:cNvSpPr txBox="1"/>
          <p:nvPr/>
        </p:nvSpPr>
        <p:spPr>
          <a:xfrm>
            <a:off x="341244" y="890382"/>
            <a:ext cx="10423738" cy="4924425"/>
          </a:xfrm>
          <a:prstGeom prst="rect">
            <a:avLst/>
          </a:prstGeom>
          <a:noFill/>
        </p:spPr>
        <p:txBody>
          <a:bodyPr wrap="square" rtlCol="0">
            <a:spAutoFit/>
          </a:bodyPr>
          <a:lstStyle/>
          <a:p>
            <a:r>
              <a:rPr lang="ja-JP" altLang="en-US" sz="1600">
                <a:latin typeface="BIZ UDゴシック" panose="020B0400000000000000" pitchFamily="49" charset="-128"/>
                <a:ea typeface="BIZ UDゴシック" panose="020B0400000000000000" pitchFamily="49" charset="-128"/>
              </a:rPr>
              <a:t>具体的な検索の実行</a:t>
            </a:r>
            <a:endParaRPr lang="ja-JP" altLang="en-US" sz="1400">
              <a:latin typeface="BIZ UDゴシック" panose="020B0400000000000000" pitchFamily="49" charset="-128"/>
              <a:ea typeface="BIZ UDゴシック" panose="020B0400000000000000" pitchFamily="49" charset="-128"/>
            </a:endParaRPr>
          </a:p>
          <a:p>
            <a:r>
              <a:rPr lang="ja-JP" altLang="en-US" sz="1400">
                <a:latin typeface="BIZ UDゴシック" panose="020B0400000000000000" pitchFamily="49" charset="-128"/>
                <a:ea typeface="BIZ UDゴシック" panose="020B0400000000000000" pitchFamily="49" charset="-128"/>
              </a:rPr>
              <a:t>  それでは、実際に</a:t>
            </a:r>
            <a:r>
              <a:rPr lang="en-US" altLang="ja-JP" sz="1400">
                <a:latin typeface="BIZ UDゴシック" panose="020B0400000000000000" pitchFamily="49" charset="-128"/>
                <a:ea typeface="BIZ UDゴシック" panose="020B0400000000000000" pitchFamily="49" charset="-128"/>
              </a:rPr>
              <a:t>Google</a:t>
            </a:r>
            <a:r>
              <a:rPr lang="ja-JP" altLang="en-US" sz="1400">
                <a:latin typeface="BIZ UDゴシック" panose="020B0400000000000000" pitchFamily="49" charset="-128"/>
                <a:ea typeface="BIZ UDゴシック" panose="020B0400000000000000" pitchFamily="49" charset="-128"/>
              </a:rPr>
              <a:t>検索ツールを使って、どのようなライブラリが見つかるか試してみましょう。今回は「</a:t>
            </a:r>
            <a:r>
              <a:rPr lang="en-US" altLang="ja-JP" sz="1400">
                <a:latin typeface="BIZ UDゴシック" panose="020B0400000000000000" pitchFamily="49" charset="-128"/>
                <a:ea typeface="BIZ UDゴシック" panose="020B0400000000000000" pitchFamily="49" charset="-128"/>
              </a:rPr>
              <a:t>python</a:t>
            </a:r>
          </a:p>
          <a:p>
            <a:r>
              <a:rPr lang="en-US" altLang="ja-JP" sz="1400">
                <a:latin typeface="BIZ UDゴシック" panose="020B0400000000000000" pitchFamily="49" charset="-128"/>
                <a:ea typeface="BIZ UDゴシック" panose="020B0400000000000000" pitchFamily="49" charset="-128"/>
              </a:rPr>
              <a:t>   library for pid temperature control</a:t>
            </a:r>
            <a:r>
              <a:rPr lang="ja-JP" altLang="en-US" sz="1400">
                <a:latin typeface="BIZ UDゴシック" panose="020B0400000000000000" pitchFamily="49" charset="-128"/>
                <a:ea typeface="BIZ UDゴシック" panose="020B0400000000000000" pitchFamily="49" charset="-128"/>
              </a:rPr>
              <a:t>」で検索してみます。</a:t>
            </a:r>
          </a:p>
          <a:p>
            <a:r>
              <a:rPr lang="ja-JP" altLang="en-US" sz="1600">
                <a:solidFill>
                  <a:srgbClr val="FF0000"/>
                </a:solidFill>
                <a:latin typeface="BIZ UDゴシック" panose="020B0400000000000000" pitchFamily="49" charset="-128"/>
                <a:ea typeface="BIZ UDゴシック" panose="020B0400000000000000" pitchFamily="49" charset="-128"/>
              </a:rPr>
              <a:t>検索結果</a:t>
            </a:r>
          </a:p>
          <a:p>
            <a:pPr marL="742950" lvl="1" indent="-285750">
              <a:buFont typeface="Arial" panose="020B0604020202020204" pitchFamily="34" charset="0"/>
              <a:buChar char="•"/>
            </a:pPr>
            <a:r>
              <a:rPr lang="en-US" altLang="ja-JP" sz="1400">
                <a:latin typeface="BIZ UDゴシック" panose="020B0400000000000000" pitchFamily="49" charset="-128"/>
                <a:ea typeface="BIZ UDゴシック" panose="020B0400000000000000" pitchFamily="49" charset="-128"/>
              </a:rPr>
              <a:t>simple-pid: </a:t>
            </a:r>
            <a:r>
              <a:rPr lang="ja-JP" altLang="en-US" sz="1400">
                <a:latin typeface="BIZ UDゴシック" panose="020B0400000000000000" pitchFamily="49" charset="-128"/>
                <a:ea typeface="BIZ UDゴシック" panose="020B0400000000000000" pitchFamily="49" charset="-128"/>
              </a:rPr>
              <a:t>最も人気があり、使い方が簡単な</a:t>
            </a:r>
            <a:r>
              <a:rPr lang="en-US" altLang="ja-JP" sz="1400">
                <a:latin typeface="BIZ UDゴシック" panose="020B0400000000000000" pitchFamily="49" charset="-128"/>
                <a:ea typeface="BIZ UDゴシック" panose="020B0400000000000000" pitchFamily="49" charset="-128"/>
              </a:rPr>
              <a:t>PID</a:t>
            </a:r>
            <a:r>
              <a:rPr lang="ja-JP" altLang="en-US" sz="1400">
                <a:latin typeface="BIZ UDゴシック" panose="020B0400000000000000" pitchFamily="49" charset="-128"/>
                <a:ea typeface="BIZ UDゴシック" panose="020B0400000000000000" pitchFamily="49" charset="-128"/>
              </a:rPr>
              <a:t>制御ライブラリです。外部の依存関係がなく、手軽に導入できます。まずはこれを試すのが良さそうです。</a:t>
            </a:r>
          </a:p>
          <a:p>
            <a:pPr marL="742950" lvl="1" indent="-285750">
              <a:buFont typeface="Arial" panose="020B0604020202020204" pitchFamily="34" charset="0"/>
              <a:buChar char="•"/>
            </a:pPr>
            <a:r>
              <a:rPr lang="en-US" altLang="ja-JP" sz="1400">
                <a:latin typeface="BIZ UDゴシック" panose="020B0400000000000000" pitchFamily="49" charset="-128"/>
                <a:ea typeface="BIZ UDゴシック" panose="020B0400000000000000" pitchFamily="49" charset="-128"/>
              </a:rPr>
              <a:t>pyPIDTune: PID</a:t>
            </a:r>
            <a:r>
              <a:rPr lang="ja-JP" altLang="en-US" sz="1400">
                <a:latin typeface="BIZ UDゴシック" panose="020B0400000000000000" pitchFamily="49" charset="-128"/>
                <a:ea typeface="BIZ UDゴシック" panose="020B0400000000000000" pitchFamily="49" charset="-128"/>
              </a:rPr>
              <a:t>パラメータのチューニングやシミュレーション機能も含まれる、より高機能なツールセットです。</a:t>
            </a:r>
          </a:p>
          <a:p>
            <a:pPr marL="742950" lvl="1" indent="-285750">
              <a:buFont typeface="Arial" panose="020B0604020202020204" pitchFamily="34" charset="0"/>
              <a:buChar char="•"/>
            </a:pPr>
            <a:r>
              <a:rPr lang="en-US" altLang="ja-JP" sz="1400">
                <a:latin typeface="BIZ UDゴシック" panose="020B0400000000000000" pitchFamily="49" charset="-128"/>
                <a:ea typeface="BIZ UDゴシック" panose="020B0400000000000000" pitchFamily="49" charset="-128"/>
              </a:rPr>
              <a:t>ivPID: </a:t>
            </a:r>
            <a:r>
              <a:rPr lang="ja-JP" altLang="en-US" sz="1400">
                <a:latin typeface="BIZ UDゴシック" panose="020B0400000000000000" pitchFamily="49" charset="-128"/>
                <a:ea typeface="BIZ UDゴシック" panose="020B0400000000000000" pitchFamily="49" charset="-128"/>
              </a:rPr>
              <a:t>もう一つのシンプルな</a:t>
            </a:r>
            <a:r>
              <a:rPr lang="en-US" altLang="ja-JP" sz="1400">
                <a:latin typeface="BIZ UDゴシック" panose="020B0400000000000000" pitchFamily="49" charset="-128"/>
                <a:ea typeface="BIZ UDゴシック" panose="020B0400000000000000" pitchFamily="49" charset="-128"/>
              </a:rPr>
              <a:t>PID</a:t>
            </a:r>
            <a:r>
              <a:rPr lang="ja-JP" altLang="en-US" sz="1400">
                <a:latin typeface="BIZ UDゴシック" panose="020B0400000000000000" pitchFamily="49" charset="-128"/>
                <a:ea typeface="BIZ UDゴシック" panose="020B0400000000000000" pitchFamily="49" charset="-128"/>
              </a:rPr>
              <a:t>制御ライブラリです</a:t>
            </a:r>
            <a:endParaRPr lang="en-US" altLang="ja-JP" sz="1400">
              <a:latin typeface="BIZ UDゴシック" panose="020B0400000000000000" pitchFamily="49" charset="-128"/>
              <a:ea typeface="BIZ UDゴシック" panose="020B0400000000000000" pitchFamily="49" charset="-128"/>
            </a:endParaRPr>
          </a:p>
          <a:p>
            <a:pPr lvl="1"/>
            <a:endParaRPr lang="ja-JP" altLang="en-US" sz="1400">
              <a:latin typeface="BIZ UDゴシック" panose="020B0400000000000000" pitchFamily="49" charset="-128"/>
              <a:ea typeface="BIZ UDゴシック" panose="020B0400000000000000" pitchFamily="49" charset="-128"/>
            </a:endParaRPr>
          </a:p>
          <a:p>
            <a:r>
              <a:rPr lang="ja-JP" altLang="en-US" sz="1600">
                <a:solidFill>
                  <a:srgbClr val="FF0000"/>
                </a:solidFill>
                <a:latin typeface="BIZ UDゴシック" panose="020B0400000000000000" pitchFamily="49" charset="-128"/>
                <a:ea typeface="BIZ UDゴシック" panose="020B0400000000000000" pitchFamily="49" charset="-128"/>
              </a:rPr>
              <a:t>考え方</a:t>
            </a:r>
          </a:p>
          <a:p>
            <a:r>
              <a:rPr lang="ja-JP" altLang="en-US" sz="1400">
                <a:latin typeface="BIZ UDゴシック" panose="020B0400000000000000" pitchFamily="49" charset="-128"/>
                <a:ea typeface="BIZ UDゴシック" panose="020B0400000000000000" pitchFamily="49" charset="-128"/>
              </a:rPr>
              <a:t>  図を見ると、「加熱冷却処理」モジュールは最終的に「</a:t>
            </a:r>
            <a:r>
              <a:rPr lang="en-US" altLang="ja-JP" sz="1400">
                <a:latin typeface="BIZ UDゴシック" panose="020B0400000000000000" pitchFamily="49" charset="-128"/>
                <a:ea typeface="BIZ UDゴシック" panose="020B0400000000000000" pitchFamily="49" charset="-128"/>
              </a:rPr>
              <a:t>Actuator</a:t>
            </a:r>
            <a:r>
              <a:rPr lang="ja-JP" altLang="en-US" sz="1400">
                <a:latin typeface="BIZ UDゴシック" panose="020B0400000000000000" pitchFamily="49" charset="-128"/>
                <a:ea typeface="BIZ UDゴシック" panose="020B0400000000000000" pitchFamily="49" charset="-128"/>
              </a:rPr>
              <a:t>（アクチュエータ）」を動かしていますね。</a:t>
            </a:r>
          </a:p>
          <a:p>
            <a:r>
              <a:rPr lang="ja-JP" altLang="en-US" sz="1400">
                <a:latin typeface="BIZ UDゴシック" panose="020B0400000000000000" pitchFamily="49" charset="-128"/>
                <a:ea typeface="BIZ UDゴシック" panose="020B0400000000000000" pitchFamily="49" charset="-128"/>
              </a:rPr>
              <a:t>  上記の</a:t>
            </a:r>
            <a:r>
              <a:rPr lang="en-US" altLang="ja-JP" sz="1400">
                <a:latin typeface="BIZ UDゴシック" panose="020B0400000000000000" pitchFamily="49" charset="-128"/>
                <a:ea typeface="BIZ UDゴシック" panose="020B0400000000000000" pitchFamily="49" charset="-128"/>
              </a:rPr>
              <a:t>PID</a:t>
            </a:r>
            <a:r>
              <a:rPr lang="ja-JP" altLang="en-US" sz="1400">
                <a:latin typeface="BIZ UDゴシック" panose="020B0400000000000000" pitchFamily="49" charset="-128"/>
                <a:ea typeface="BIZ UDゴシック" panose="020B0400000000000000" pitchFamily="49" charset="-128"/>
              </a:rPr>
              <a:t>ライブラリは、「現在の温度」と「目標温度」の差から、どれくらい加熱または冷却すべきか（操作量）を</a:t>
            </a:r>
          </a:p>
          <a:p>
            <a:r>
              <a:rPr lang="ja-JP" altLang="en-US" sz="1400">
                <a:latin typeface="BIZ UDゴシック" panose="020B0400000000000000" pitchFamily="49" charset="-128"/>
                <a:ea typeface="BIZ UDゴシック" panose="020B0400000000000000" pitchFamily="49" charset="-128"/>
              </a:rPr>
              <a:t>  計算する、という頭脳の部分を担当します。</a:t>
            </a:r>
            <a:endParaRPr lang="en-US" altLang="ja-JP" sz="1400">
              <a:latin typeface="BIZ UDゴシック" panose="020B0400000000000000" pitchFamily="49" charset="-128"/>
              <a:ea typeface="BIZ UDゴシック" panose="020B0400000000000000" pitchFamily="49" charset="-128"/>
            </a:endParaRPr>
          </a:p>
          <a:p>
            <a:r>
              <a:rPr lang="ja-JP" altLang="en-US" sz="1400">
                <a:solidFill>
                  <a:srgbClr val="FF0000"/>
                </a:solidFill>
                <a:latin typeface="BIZ UDゴシック" panose="020B0400000000000000" pitchFamily="49" charset="-128"/>
                <a:ea typeface="BIZ UDゴシック" panose="020B0400000000000000" pitchFamily="49" charset="-128"/>
              </a:rPr>
              <a:t>インストール</a:t>
            </a:r>
            <a:endParaRPr lang="en-US" altLang="ja-JP" sz="1400">
              <a:solidFill>
                <a:srgbClr val="FF0000"/>
              </a:solidFill>
              <a:latin typeface="BIZ UDゴシック" panose="020B0400000000000000" pitchFamily="49" charset="-128"/>
              <a:ea typeface="BIZ UDゴシック" panose="020B0400000000000000" pitchFamily="49" charset="-128"/>
            </a:endParaRPr>
          </a:p>
          <a:p>
            <a:r>
              <a:rPr lang="ja-JP" altLang="en-US" sz="1400">
                <a:latin typeface="BIZ UDゴシック" panose="020B0400000000000000" pitchFamily="49" charset="-128"/>
                <a:ea typeface="BIZ UDゴシック" panose="020B0400000000000000" pitchFamily="49" charset="-128"/>
              </a:rPr>
              <a:t> </a:t>
            </a:r>
            <a:r>
              <a:rPr lang="en-US" altLang="ja-JP" sz="1400">
                <a:latin typeface="BIZ UDゴシック" panose="020B0400000000000000" pitchFamily="49" charset="-128"/>
                <a:ea typeface="BIZ UDゴシック" panose="020B0400000000000000" pitchFamily="49" charset="-128"/>
              </a:rPr>
              <a:t>Windows</a:t>
            </a:r>
            <a:r>
              <a:rPr lang="ja-JP" altLang="en-US" sz="1400">
                <a:latin typeface="BIZ UDゴシック" panose="020B0400000000000000" pitchFamily="49" charset="-128"/>
                <a:ea typeface="BIZ UDゴシック" panose="020B0400000000000000" pitchFamily="49" charset="-128"/>
              </a:rPr>
              <a:t>環境では、</a:t>
            </a:r>
            <a:r>
              <a:rPr lang="en-US" altLang="ja-JP" sz="1400">
                <a:latin typeface="BIZ UDゴシック" panose="020B0400000000000000" pitchFamily="49" charset="-128"/>
                <a:ea typeface="BIZ UDゴシック" panose="020B0400000000000000" pitchFamily="49" charset="-128"/>
              </a:rPr>
              <a:t>py  </a:t>
            </a:r>
            <a:r>
              <a:rPr lang="ja-JP" altLang="en-US" sz="1400">
                <a:latin typeface="BIZ UDゴシック" panose="020B0400000000000000" pitchFamily="49" charset="-128"/>
                <a:ea typeface="BIZ UDゴシック" panose="020B0400000000000000" pitchFamily="49" charset="-128"/>
              </a:rPr>
              <a:t>というランチャーコマンドが利用できる場合があります。こちらを使って再度インストールを試みます。</a:t>
            </a:r>
          </a:p>
          <a:p>
            <a:r>
              <a:rPr lang="en-US" altLang="ja-JP" sz="1400">
                <a:latin typeface="BIZ UDゴシック" panose="020B0400000000000000" pitchFamily="49" charset="-128"/>
                <a:ea typeface="BIZ UDゴシック" panose="020B0400000000000000" pitchFamily="49" charset="-128"/>
              </a:rPr>
              <a:t>✓  Shell py -m pip install simple-pid (Windows</a:t>
            </a:r>
            <a:r>
              <a:rPr lang="ja-JP" altLang="en-US" sz="1400">
                <a:latin typeface="BIZ UDゴシック" panose="020B0400000000000000" pitchFamily="49" charset="-128"/>
                <a:ea typeface="BIZ UDゴシック" panose="020B0400000000000000" pitchFamily="49" charset="-128"/>
              </a:rPr>
              <a:t>用の</a:t>
            </a:r>
            <a:r>
              <a:rPr lang="en-US" altLang="ja-JP" sz="1400">
                <a:latin typeface="BIZ UDゴシック" panose="020B0400000000000000" pitchFamily="49" charset="-128"/>
                <a:ea typeface="BIZ UDゴシック" panose="020B0400000000000000" pitchFamily="49" charset="-128"/>
              </a:rPr>
              <a:t>Python</a:t>
            </a:r>
            <a:r>
              <a:rPr lang="ja-JP" altLang="en-US" sz="1400">
                <a:latin typeface="BIZ UDゴシック" panose="020B0400000000000000" pitchFamily="49" charset="-128"/>
                <a:ea typeface="BIZ UDゴシック" panose="020B0400000000000000" pitchFamily="49" charset="-128"/>
              </a:rPr>
              <a:t>ランチャー</a:t>
            </a:r>
            <a:r>
              <a:rPr lang="en-US" altLang="ja-JP" sz="1400">
                <a:latin typeface="BIZ UDゴシック" panose="020B0400000000000000" pitchFamily="49" charset="-128"/>
                <a:ea typeface="BIZ UDゴシック" panose="020B0400000000000000" pitchFamily="49" charset="-128"/>
              </a:rPr>
              <a:t>(py)</a:t>
            </a:r>
            <a:r>
              <a:rPr lang="ja-JP" altLang="en-US" sz="1400">
                <a:latin typeface="BIZ UDゴシック" panose="020B0400000000000000" pitchFamily="49" charset="-128"/>
                <a:ea typeface="BIZ UDゴシック" panose="020B0400000000000000" pitchFamily="49" charset="-128"/>
              </a:rPr>
              <a:t>を経由して</a:t>
            </a:r>
            <a:r>
              <a:rPr lang="en-US" altLang="ja-JP" sz="1400">
                <a:latin typeface="BIZ UDゴシック" panose="020B0400000000000000" pitchFamily="49" charset="-128"/>
                <a:ea typeface="BIZ UDゴシック" panose="020B0400000000000000" pitchFamily="49" charset="-128"/>
              </a:rPr>
              <a:t>pip</a:t>
            </a:r>
            <a:r>
              <a:rPr lang="ja-JP" altLang="en-US" sz="1400">
                <a:latin typeface="BIZ UDゴシック" panose="020B0400000000000000" pitchFamily="49" charset="-128"/>
                <a:ea typeface="BIZ UDゴシック" panose="020B0400000000000000" pitchFamily="49" charset="-128"/>
              </a:rPr>
              <a:t>を呼び出し、</a:t>
            </a:r>
            <a:r>
              <a:rPr lang="en-US" altLang="ja-JP" sz="1400">
                <a:latin typeface="BIZ UDゴシック" panose="020B0400000000000000" pitchFamily="49" charset="-128"/>
                <a:ea typeface="BIZ UDゴシック" panose="020B0400000000000000" pitchFamily="49" charset="-128"/>
              </a:rPr>
              <a:t>simple-pid…</a:t>
            </a:r>
          </a:p>
          <a:p>
            <a:r>
              <a:rPr lang="en-US" altLang="ja-JP" sz="1400">
                <a:latin typeface="BIZ UDゴシック" panose="020B0400000000000000" pitchFamily="49" charset="-128"/>
                <a:ea typeface="BIZ UDゴシック" panose="020B0400000000000000" pitchFamily="49" charset="-128"/>
              </a:rPr>
              <a:t>│    Collecting simple-pid</a:t>
            </a:r>
          </a:p>
          <a:p>
            <a:r>
              <a:rPr lang="en-US" altLang="ja-JP" sz="1400">
                <a:latin typeface="BIZ UDゴシック" panose="020B0400000000000000" pitchFamily="49" charset="-128"/>
                <a:ea typeface="BIZ UDゴシック" panose="020B0400000000000000" pitchFamily="49" charset="-128"/>
              </a:rPr>
              <a:t>│    Downloading simple_pid-2.0.1-py3-none-any.whl.metadata (2.9 kB)                                        │</a:t>
            </a:r>
          </a:p>
          <a:p>
            <a:r>
              <a:rPr lang="en-US" altLang="ja-JP" sz="1400">
                <a:latin typeface="BIZ UDゴシック" panose="020B0400000000000000" pitchFamily="49" charset="-128"/>
                <a:ea typeface="BIZ UDゴシック" panose="020B0400000000000000" pitchFamily="49" charset="-128"/>
              </a:rPr>
              <a:t>│    Downloading simple_pid-2.0.1-py3-none-any.whl (7.2 kB)                                                   │</a:t>
            </a:r>
          </a:p>
          <a:p>
            <a:r>
              <a:rPr lang="en-US" altLang="ja-JP" sz="1400">
                <a:latin typeface="BIZ UDゴシック" panose="020B0400000000000000" pitchFamily="49" charset="-128"/>
                <a:ea typeface="BIZ UDゴシック" panose="020B0400000000000000" pitchFamily="49" charset="-128"/>
              </a:rPr>
              <a:t>│    Installing collected packages: simple-pid                                                                │</a:t>
            </a:r>
          </a:p>
          <a:p>
            <a:r>
              <a:rPr lang="en-US" altLang="ja-JP" sz="1400">
                <a:latin typeface="BIZ UDゴシック" panose="020B0400000000000000" pitchFamily="49" charset="-128"/>
                <a:ea typeface="BIZ UDゴシック" panose="020B0400000000000000" pitchFamily="49" charset="-128"/>
              </a:rPr>
              <a:t>│    Successfully installed simple-pid-2.0.1                                                                  │</a:t>
            </a:r>
          </a:p>
          <a:p>
            <a:r>
              <a:rPr lang="en-US" altLang="ja-JP" sz="1400">
                <a:latin typeface="BIZ UDゴシック" panose="020B0400000000000000" pitchFamily="49" charset="-128"/>
                <a:ea typeface="BIZ UDゴシック" panose="020B0400000000000000" pitchFamily="49" charset="-128"/>
              </a:rPr>
              <a:t>✦ </a:t>
            </a:r>
            <a:r>
              <a:rPr lang="ja-JP" altLang="en-US" sz="1400">
                <a:latin typeface="BIZ UDゴシック" panose="020B0400000000000000" pitchFamily="49" charset="-128"/>
                <a:ea typeface="BIZ UDゴシック" panose="020B0400000000000000" pitchFamily="49" charset="-128"/>
              </a:rPr>
              <a:t>インストールが成功しました。</a:t>
            </a:r>
            <a:endParaRPr lang="en-US" altLang="ja-JP" sz="1400">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4044493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FF9621-8C21-A479-057E-0F860F8A7C51}"/>
              </a:ext>
            </a:extLst>
          </p:cNvPr>
          <p:cNvSpPr>
            <a:spLocks noGrp="1"/>
          </p:cNvSpPr>
          <p:nvPr>
            <p:ph type="title"/>
          </p:nvPr>
        </p:nvSpPr>
        <p:spPr/>
        <p:txBody>
          <a:bodyPr>
            <a:normAutofit fontScale="90000"/>
          </a:bodyPr>
          <a:lstStyle/>
          <a:p>
            <a:r>
              <a:rPr lang="ja-JP" altLang="en-US"/>
              <a:t>使用ライブラリとカスタマイズ</a:t>
            </a:r>
            <a:endParaRPr kumimoji="1" lang="ja-JP" altLang="en-US"/>
          </a:p>
        </p:txBody>
      </p:sp>
      <p:sp>
        <p:nvSpPr>
          <p:cNvPr id="4" name="テキスト ボックス 3">
            <a:extLst>
              <a:ext uri="{FF2B5EF4-FFF2-40B4-BE49-F238E27FC236}">
                <a16:creationId xmlns:a16="http://schemas.microsoft.com/office/drawing/2014/main" id="{863390EC-8C08-10C1-9071-40E6DBD6A549}"/>
              </a:ext>
            </a:extLst>
          </p:cNvPr>
          <p:cNvSpPr txBox="1"/>
          <p:nvPr/>
        </p:nvSpPr>
        <p:spPr>
          <a:xfrm>
            <a:off x="397450" y="1034627"/>
            <a:ext cx="9692121" cy="369332"/>
          </a:xfrm>
          <a:prstGeom prst="rect">
            <a:avLst/>
          </a:prstGeom>
          <a:noFill/>
        </p:spPr>
        <p:txBody>
          <a:bodyPr wrap="square">
            <a:spAutoFit/>
          </a:bodyPr>
          <a:lstStyle/>
          <a:p>
            <a:r>
              <a:rPr lang="ja-JP" altLang="en-US"/>
              <a:t>C:\Users\nyapa\AppData\Local\Programs\Python\Python313\Lib\site-packages\simple_pid</a:t>
            </a:r>
          </a:p>
        </p:txBody>
      </p:sp>
      <p:sp>
        <p:nvSpPr>
          <p:cNvPr id="5" name="テキスト ボックス 4">
            <a:extLst>
              <a:ext uri="{FF2B5EF4-FFF2-40B4-BE49-F238E27FC236}">
                <a16:creationId xmlns:a16="http://schemas.microsoft.com/office/drawing/2014/main" id="{81F9483E-A611-5170-906B-88C4C75184B1}"/>
              </a:ext>
            </a:extLst>
          </p:cNvPr>
          <p:cNvSpPr txBox="1"/>
          <p:nvPr/>
        </p:nvSpPr>
        <p:spPr>
          <a:xfrm>
            <a:off x="632977" y="1403959"/>
            <a:ext cx="10720823" cy="2123658"/>
          </a:xfrm>
          <a:prstGeom prst="rect">
            <a:avLst/>
          </a:prstGeom>
          <a:noFill/>
        </p:spPr>
        <p:txBody>
          <a:bodyPr wrap="square">
            <a:spAutoFit/>
          </a:bodyPr>
          <a:lstStyle/>
          <a:p>
            <a:r>
              <a:rPr lang="en-US" altLang="ja-JP" sz="1600">
                <a:solidFill>
                  <a:srgbClr val="FF0000"/>
                </a:solidFill>
                <a:latin typeface="BIZ UDゴシック" panose="020B0400000000000000" pitchFamily="49" charset="-128"/>
                <a:ea typeface="BIZ UDゴシック" panose="020B0400000000000000" pitchFamily="49" charset="-128"/>
              </a:rPr>
              <a:t>simple-pid</a:t>
            </a:r>
            <a:r>
              <a:rPr lang="ja-JP" altLang="en-US" sz="1600">
                <a:solidFill>
                  <a:srgbClr val="FF0000"/>
                </a:solidFill>
                <a:latin typeface="BIZ UDゴシック" panose="020B0400000000000000" pitchFamily="49" charset="-128"/>
                <a:ea typeface="BIZ UDゴシック" panose="020B0400000000000000" pitchFamily="49" charset="-128"/>
              </a:rPr>
              <a:t>の概要</a:t>
            </a:r>
          </a:p>
          <a:p>
            <a:r>
              <a:rPr lang="ja-JP" altLang="en-US">
                <a:latin typeface="BIZ UDゴシック" panose="020B0400000000000000" pitchFamily="49" charset="-128"/>
                <a:ea typeface="BIZ UDゴシック" panose="020B0400000000000000" pitchFamily="49" charset="-128"/>
              </a:rPr>
              <a:t>  </a:t>
            </a:r>
            <a:r>
              <a:rPr lang="ja-JP" altLang="en-US" sz="1200">
                <a:latin typeface="BIZ UDゴシック" panose="020B0400000000000000" pitchFamily="49" charset="-128"/>
                <a:ea typeface="BIZ UDゴシック" panose="020B0400000000000000" pitchFamily="49" charset="-128"/>
              </a:rPr>
              <a:t>このライブラリの核心は </a:t>
            </a:r>
            <a:r>
              <a:rPr lang="en-US" altLang="ja-JP" sz="1200">
                <a:latin typeface="BIZ UDゴシック" panose="020B0400000000000000" pitchFamily="49" charset="-128"/>
                <a:ea typeface="BIZ UDゴシック" panose="020B0400000000000000" pitchFamily="49" charset="-128"/>
              </a:rPr>
              <a:t>PID </a:t>
            </a:r>
            <a:r>
              <a:rPr lang="ja-JP" altLang="en-US" sz="1200">
                <a:latin typeface="BIZ UDゴシック" panose="020B0400000000000000" pitchFamily="49" charset="-128"/>
                <a:ea typeface="BIZ UDゴシック" panose="020B0400000000000000" pitchFamily="49" charset="-128"/>
              </a:rPr>
              <a:t>という名前のクラスです。このクラス１つで</a:t>
            </a:r>
            <a:r>
              <a:rPr lang="en-US" altLang="ja-JP" sz="1200">
                <a:latin typeface="BIZ UDゴシック" panose="020B0400000000000000" pitchFamily="49" charset="-128"/>
                <a:ea typeface="BIZ UDゴシック" panose="020B0400000000000000" pitchFamily="49" charset="-128"/>
              </a:rPr>
              <a:t>PID</a:t>
            </a:r>
            <a:r>
              <a:rPr lang="ja-JP" altLang="en-US" sz="1200">
                <a:latin typeface="BIZ UDゴシック" panose="020B0400000000000000" pitchFamily="49" charset="-128"/>
                <a:ea typeface="BIZ UDゴシック" panose="020B0400000000000000" pitchFamily="49" charset="-128"/>
              </a:rPr>
              <a:t>制御のすべての機能を提供します。</a:t>
            </a:r>
          </a:p>
          <a:p>
            <a:endParaRPr lang="ja-JP" altLang="en-US" sz="1200">
              <a:latin typeface="BIZ UDゴシック" panose="020B0400000000000000" pitchFamily="49" charset="-128"/>
              <a:ea typeface="BIZ UDゴシック" panose="020B0400000000000000" pitchFamily="49" charset="-128"/>
            </a:endParaRPr>
          </a:p>
          <a:p>
            <a:r>
              <a:rPr lang="ja-JP" altLang="en-US" sz="1600">
                <a:solidFill>
                  <a:srgbClr val="FF0000"/>
                </a:solidFill>
                <a:latin typeface="BIZ UDゴシック" panose="020B0400000000000000" pitchFamily="49" charset="-128"/>
                <a:ea typeface="BIZ UDゴシック" panose="020B0400000000000000" pitchFamily="49" charset="-128"/>
              </a:rPr>
              <a:t>主な使い方</a:t>
            </a:r>
          </a:p>
          <a:p>
            <a:r>
              <a:rPr lang="ja-JP" altLang="en-US" sz="1200">
                <a:latin typeface="BIZ UDゴシック" panose="020B0400000000000000" pitchFamily="49" charset="-128"/>
                <a:ea typeface="BIZ UDゴシック" panose="020B0400000000000000" pitchFamily="49" charset="-128"/>
              </a:rPr>
              <a:t>  </a:t>
            </a:r>
            <a:r>
              <a:rPr lang="ja-JP" altLang="en-US" sz="1400">
                <a:latin typeface="BIZ UDゴシック" panose="020B0400000000000000" pitchFamily="49" charset="-128"/>
                <a:ea typeface="BIZ UDゴシック" panose="020B0400000000000000" pitchFamily="49" charset="-128"/>
              </a:rPr>
              <a:t>使い方は非常にシンプルで、</a:t>
            </a:r>
            <a:r>
              <a:rPr lang="en-US" altLang="ja-JP" sz="1400">
                <a:latin typeface="BIZ UDゴシック" panose="020B0400000000000000" pitchFamily="49" charset="-128"/>
                <a:ea typeface="BIZ UDゴシック" panose="020B0400000000000000" pitchFamily="49" charset="-128"/>
              </a:rPr>
              <a:t>3</a:t>
            </a:r>
            <a:r>
              <a:rPr lang="ja-JP" altLang="en-US" sz="1400">
                <a:latin typeface="BIZ UDゴシック" panose="020B0400000000000000" pitchFamily="49" charset="-128"/>
                <a:ea typeface="BIZ UDゴシック" panose="020B0400000000000000" pitchFamily="49" charset="-128"/>
              </a:rPr>
              <a:t>つのステップで構成されます。</a:t>
            </a:r>
          </a:p>
          <a:p>
            <a:pPr marL="228600" indent="-228600">
              <a:buFont typeface="+mj-lt"/>
              <a:buAutoNum type="arabicPeriod"/>
            </a:pPr>
            <a:r>
              <a:rPr lang="ja-JP" altLang="en-US" sz="1400">
                <a:latin typeface="BIZ UDゴシック" panose="020B0400000000000000" pitchFamily="49" charset="-128"/>
                <a:ea typeface="BIZ UDゴシック" panose="020B0400000000000000" pitchFamily="49" charset="-128"/>
              </a:rPr>
              <a:t>  初期化</a:t>
            </a:r>
            <a:r>
              <a:rPr lang="en-US" altLang="ja-JP" sz="1400">
                <a:latin typeface="BIZ UDゴシック" panose="020B0400000000000000" pitchFamily="49" charset="-128"/>
                <a:ea typeface="BIZ UDゴシック" panose="020B0400000000000000" pitchFamily="49" charset="-128"/>
              </a:rPr>
              <a:t>: PID </a:t>
            </a:r>
            <a:r>
              <a:rPr lang="ja-JP" altLang="en-US" sz="1400">
                <a:latin typeface="BIZ UDゴシック" panose="020B0400000000000000" pitchFamily="49" charset="-128"/>
                <a:ea typeface="BIZ UDゴシック" panose="020B0400000000000000" pitchFamily="49" charset="-128"/>
              </a:rPr>
              <a:t>クラスのインスタンス（オブジェクト）を作成します。このとき、</a:t>
            </a:r>
            <a:r>
              <a:rPr lang="en-US" altLang="ja-JP" sz="1400">
                <a:latin typeface="BIZ UDゴシック" panose="020B0400000000000000" pitchFamily="49" charset="-128"/>
                <a:ea typeface="BIZ UDゴシック" panose="020B0400000000000000" pitchFamily="49" charset="-128"/>
              </a:rPr>
              <a:t>PID</a:t>
            </a:r>
            <a:r>
              <a:rPr lang="ja-JP" altLang="en-US" sz="1400">
                <a:latin typeface="BIZ UDゴシック" panose="020B0400000000000000" pitchFamily="49" charset="-128"/>
                <a:ea typeface="BIZ UDゴシック" panose="020B0400000000000000" pitchFamily="49" charset="-128"/>
              </a:rPr>
              <a:t>の挙動を決める重要なパラメータ（定数）を渡します。</a:t>
            </a:r>
          </a:p>
          <a:p>
            <a:pPr marL="228600" indent="-228600">
              <a:buFont typeface="+mj-lt"/>
              <a:buAutoNum type="arabicPeriod"/>
            </a:pPr>
            <a:r>
              <a:rPr lang="ja-JP" altLang="en-US" sz="1400">
                <a:latin typeface="BIZ UDゴシック" panose="020B0400000000000000" pitchFamily="49" charset="-128"/>
                <a:ea typeface="BIZ UDゴシック" panose="020B0400000000000000" pitchFamily="49" charset="-128"/>
              </a:rPr>
              <a:t>  実行</a:t>
            </a:r>
            <a:r>
              <a:rPr lang="en-US" altLang="ja-JP" sz="1400">
                <a:latin typeface="BIZ UDゴシック" panose="020B0400000000000000" pitchFamily="49" charset="-128"/>
                <a:ea typeface="BIZ UDゴシック" panose="020B0400000000000000" pitchFamily="49" charset="-128"/>
              </a:rPr>
              <a:t>: </a:t>
            </a:r>
            <a:r>
              <a:rPr lang="ja-JP" altLang="en-US" sz="1400">
                <a:latin typeface="BIZ UDゴシック" panose="020B0400000000000000" pitchFamily="49" charset="-128"/>
                <a:ea typeface="BIZ UDゴシック" panose="020B0400000000000000" pitchFamily="49" charset="-128"/>
              </a:rPr>
              <a:t>ループ処理の中で、作成したインスタンスに現在のセンサ値（例：現在の温度）を渡して呼び出します。</a:t>
            </a:r>
          </a:p>
          <a:p>
            <a:pPr marL="228600" indent="-228600">
              <a:buFont typeface="+mj-lt"/>
              <a:buAutoNum type="arabicPeriod"/>
            </a:pPr>
            <a:r>
              <a:rPr lang="ja-JP" altLang="en-US" sz="1400">
                <a:latin typeface="BIZ UDゴシック" panose="020B0400000000000000" pitchFamily="49" charset="-128"/>
                <a:ea typeface="BIZ UDゴシック" panose="020B0400000000000000" pitchFamily="49" charset="-128"/>
              </a:rPr>
              <a:t>  出力の利用</a:t>
            </a:r>
            <a:r>
              <a:rPr lang="en-US" altLang="ja-JP" sz="1400">
                <a:latin typeface="BIZ UDゴシック" panose="020B0400000000000000" pitchFamily="49" charset="-128"/>
                <a:ea typeface="BIZ UDゴシック" panose="020B0400000000000000" pitchFamily="49" charset="-128"/>
              </a:rPr>
              <a:t>: </a:t>
            </a:r>
            <a:r>
              <a:rPr lang="ja-JP" altLang="en-US" sz="1400">
                <a:latin typeface="BIZ UDゴシック" panose="020B0400000000000000" pitchFamily="49" charset="-128"/>
                <a:ea typeface="BIZ UDゴシック" panose="020B0400000000000000" pitchFamily="49" charset="-128"/>
              </a:rPr>
              <a:t>インスタンスが返した「操作量」を使って、アクチュエータ（ヒーターやクーラー）を制御します。</a:t>
            </a:r>
          </a:p>
        </p:txBody>
      </p:sp>
      <p:sp>
        <p:nvSpPr>
          <p:cNvPr id="6" name="テキスト ボックス 5">
            <a:extLst>
              <a:ext uri="{FF2B5EF4-FFF2-40B4-BE49-F238E27FC236}">
                <a16:creationId xmlns:a16="http://schemas.microsoft.com/office/drawing/2014/main" id="{F594EE4B-F9F0-F4E6-93A5-6CAEF4BEA0BF}"/>
              </a:ext>
            </a:extLst>
          </p:cNvPr>
          <p:cNvSpPr txBox="1"/>
          <p:nvPr/>
        </p:nvSpPr>
        <p:spPr>
          <a:xfrm>
            <a:off x="632976" y="3527617"/>
            <a:ext cx="10720823" cy="3139321"/>
          </a:xfrm>
          <a:prstGeom prst="rect">
            <a:avLst/>
          </a:prstGeom>
          <a:noFill/>
        </p:spPr>
        <p:txBody>
          <a:bodyPr wrap="square">
            <a:spAutoFit/>
          </a:bodyPr>
          <a:lstStyle/>
          <a:p>
            <a:r>
              <a:rPr lang="ja-JP" altLang="en-US" sz="1600">
                <a:solidFill>
                  <a:srgbClr val="FF0000"/>
                </a:solidFill>
                <a:latin typeface="BIZ UDゴシック" panose="020B0400000000000000" pitchFamily="49" charset="-128"/>
                <a:ea typeface="BIZ UDゴシック" panose="020B0400000000000000" pitchFamily="49" charset="-128"/>
              </a:rPr>
              <a:t>主要なパラメータ（初期化時に設定）</a:t>
            </a:r>
            <a:endParaRPr lang="en-US" altLang="ja-JP" sz="1600">
              <a:solidFill>
                <a:srgbClr val="FF0000"/>
              </a:solidFill>
              <a:latin typeface="BIZ UDゴシック" panose="020B0400000000000000" pitchFamily="49" charset="-128"/>
              <a:ea typeface="BIZ UDゴシック" panose="020B0400000000000000" pitchFamily="49" charset="-128"/>
            </a:endParaRPr>
          </a:p>
          <a:p>
            <a:r>
              <a:rPr lang="ja-JP" altLang="en-US" sz="1400">
                <a:latin typeface="BIZ UDゴシック" panose="020B0400000000000000" pitchFamily="49" charset="-128"/>
                <a:ea typeface="BIZ UDゴシック" panose="020B0400000000000000" pitchFamily="49" charset="-128"/>
              </a:rPr>
              <a:t> </a:t>
            </a:r>
            <a:r>
              <a:rPr lang="en-US" altLang="ja-JP" sz="1400">
                <a:latin typeface="BIZ UDゴシック" panose="020B0400000000000000" pitchFamily="49" charset="-128"/>
                <a:ea typeface="BIZ UDゴシック" panose="020B0400000000000000" pitchFamily="49" charset="-128"/>
              </a:rPr>
              <a:t>PID(...) </a:t>
            </a:r>
            <a:r>
              <a:rPr lang="ja-JP" altLang="en-US" sz="1400">
                <a:latin typeface="BIZ UDゴシック" panose="020B0400000000000000" pitchFamily="49" charset="-128"/>
                <a:ea typeface="BIZ UDゴシック" panose="020B0400000000000000" pitchFamily="49" charset="-128"/>
              </a:rPr>
              <a:t>のようにインスタンスを作成する際に、以下の値を設定します。</a:t>
            </a:r>
          </a:p>
          <a:p>
            <a:r>
              <a:rPr lang="ja-JP" altLang="en-US" sz="1400">
                <a:latin typeface="BIZ UDゴシック" panose="020B0400000000000000" pitchFamily="49" charset="-128"/>
                <a:ea typeface="BIZ UDゴシック" panose="020B0400000000000000" pitchFamily="49" charset="-128"/>
              </a:rPr>
              <a:t>   * </a:t>
            </a:r>
            <a:r>
              <a:rPr lang="en-US" altLang="ja-JP" sz="1400">
                <a:latin typeface="BIZ UDゴシック" panose="020B0400000000000000" pitchFamily="49" charset="-128"/>
                <a:ea typeface="BIZ UDゴシック" panose="020B0400000000000000" pitchFamily="49" charset="-128"/>
              </a:rPr>
              <a:t>Kp, Ki, Kd (float):</a:t>
            </a:r>
          </a:p>
          <a:p>
            <a:r>
              <a:rPr lang="ja-JP" altLang="en-US" sz="1400">
                <a:latin typeface="BIZ UDゴシック" panose="020B0400000000000000" pitchFamily="49" charset="-128"/>
                <a:ea typeface="BIZ UDゴシック" panose="020B0400000000000000" pitchFamily="49" charset="-128"/>
              </a:rPr>
              <a:t>　　　</a:t>
            </a:r>
            <a:r>
              <a:rPr lang="en-US" altLang="ja-JP" sz="1400">
                <a:latin typeface="BIZ UDゴシック" panose="020B0400000000000000" pitchFamily="49" charset="-128"/>
                <a:ea typeface="BIZ UDゴシック" panose="020B0400000000000000" pitchFamily="49" charset="-128"/>
              </a:rPr>
              <a:t>PID</a:t>
            </a:r>
            <a:r>
              <a:rPr lang="ja-JP" altLang="en-US" sz="1400">
                <a:latin typeface="BIZ UDゴシック" panose="020B0400000000000000" pitchFamily="49" charset="-128"/>
                <a:ea typeface="BIZ UDゴシック" panose="020B0400000000000000" pitchFamily="49" charset="-128"/>
              </a:rPr>
              <a:t>制御の最も重要な</a:t>
            </a:r>
            <a:r>
              <a:rPr lang="en-US" altLang="ja-JP" sz="1400">
                <a:latin typeface="BIZ UDゴシック" panose="020B0400000000000000" pitchFamily="49" charset="-128"/>
                <a:ea typeface="BIZ UDゴシック" panose="020B0400000000000000" pitchFamily="49" charset="-128"/>
              </a:rPr>
              <a:t>3</a:t>
            </a:r>
            <a:r>
              <a:rPr lang="ja-JP" altLang="en-US" sz="1400">
                <a:latin typeface="BIZ UDゴシック" panose="020B0400000000000000" pitchFamily="49" charset="-128"/>
                <a:ea typeface="BIZ UDゴシック" panose="020B0400000000000000" pitchFamily="49" charset="-128"/>
              </a:rPr>
              <a:t>つのゲイン（利得）パラメータです。これらの値を調整（チューニング）することで、制御</a:t>
            </a:r>
          </a:p>
          <a:p>
            <a:r>
              <a:rPr lang="ja-JP" altLang="en-US" sz="1400">
                <a:latin typeface="BIZ UDゴシック" panose="020B0400000000000000" pitchFamily="49" charset="-128"/>
                <a:ea typeface="BIZ UDゴシック" panose="020B0400000000000000" pitchFamily="49" charset="-128"/>
              </a:rPr>
              <a:t>  の応答性を変えます。</a:t>
            </a:r>
          </a:p>
          <a:p>
            <a:pPr marL="285750" indent="-285750">
              <a:buFont typeface="Arial" panose="020B0604020202020204" pitchFamily="34" charset="0"/>
              <a:buChar char="•"/>
            </a:pPr>
            <a:r>
              <a:rPr lang="en-US" altLang="ja-JP" sz="1400">
                <a:latin typeface="BIZ UDゴシック" panose="020B0400000000000000" pitchFamily="49" charset="-128"/>
                <a:ea typeface="BIZ UDゴシック" panose="020B0400000000000000" pitchFamily="49" charset="-128"/>
              </a:rPr>
              <a:t>Kp: P (Proportional) </a:t>
            </a:r>
            <a:r>
              <a:rPr lang="ja-JP" altLang="en-US" sz="1400">
                <a:latin typeface="BIZ UDゴシック" panose="020B0400000000000000" pitchFamily="49" charset="-128"/>
                <a:ea typeface="BIZ UDゴシック" panose="020B0400000000000000" pitchFamily="49" charset="-128"/>
              </a:rPr>
              <a:t>ゲイン。目標値と現在値の差（偏差）に比例して操作量を決定します。</a:t>
            </a:r>
          </a:p>
          <a:p>
            <a:pPr marL="285750" indent="-285750">
              <a:buFont typeface="Arial" panose="020B0604020202020204" pitchFamily="34" charset="0"/>
              <a:buChar char="•"/>
            </a:pPr>
            <a:r>
              <a:rPr lang="en-US" altLang="ja-JP" sz="1400">
                <a:latin typeface="BIZ UDゴシック" panose="020B0400000000000000" pitchFamily="49" charset="-128"/>
                <a:ea typeface="BIZ UDゴシック" panose="020B0400000000000000" pitchFamily="49" charset="-128"/>
              </a:rPr>
              <a:t>Ki: I (Integral) </a:t>
            </a:r>
            <a:r>
              <a:rPr lang="ja-JP" altLang="en-US" sz="1400">
                <a:latin typeface="BIZ UDゴシック" panose="020B0400000000000000" pitchFamily="49" charset="-128"/>
                <a:ea typeface="BIZ UDゴシック" panose="020B0400000000000000" pitchFamily="49" charset="-128"/>
              </a:rPr>
              <a:t>ゲイン。偏差の蓄積（積分）に比例して操作量を決定し、定常的な誤差をなくします。</a:t>
            </a:r>
          </a:p>
          <a:p>
            <a:pPr marL="285750" indent="-285750">
              <a:buFont typeface="Arial" panose="020B0604020202020204" pitchFamily="34" charset="0"/>
              <a:buChar char="•"/>
            </a:pPr>
            <a:r>
              <a:rPr lang="en-US" altLang="ja-JP" sz="1400">
                <a:latin typeface="BIZ UDゴシック" panose="020B0400000000000000" pitchFamily="49" charset="-128"/>
                <a:ea typeface="BIZ UDゴシック" panose="020B0400000000000000" pitchFamily="49" charset="-128"/>
              </a:rPr>
              <a:t>Kd: D (Derivative) </a:t>
            </a:r>
            <a:r>
              <a:rPr lang="ja-JP" altLang="en-US" sz="1400">
                <a:latin typeface="BIZ UDゴシック" panose="020B0400000000000000" pitchFamily="49" charset="-128"/>
                <a:ea typeface="BIZ UDゴシック" panose="020B0400000000000000" pitchFamily="49" charset="-128"/>
              </a:rPr>
              <a:t>ゲイン。偏差の変化率（微分）に比例して操作量を決定し、急な変化を抑えて安定させます。</a:t>
            </a:r>
          </a:p>
          <a:p>
            <a:pPr marL="285750" indent="-285750">
              <a:buFont typeface="Arial" panose="020B0604020202020204" pitchFamily="34" charset="0"/>
              <a:buChar char="•"/>
            </a:pPr>
            <a:r>
              <a:rPr lang="en-US" altLang="ja-JP" sz="1400">
                <a:latin typeface="BIZ UDゴシック" panose="020B0400000000000000" pitchFamily="49" charset="-128"/>
                <a:ea typeface="BIZ UDゴシック" panose="020B0400000000000000" pitchFamily="49" charset="-128"/>
              </a:rPr>
              <a:t>setpoint (float):</a:t>
            </a:r>
            <a:r>
              <a:rPr lang="ja-JP" altLang="en-US" sz="1400">
                <a:latin typeface="BIZ UDゴシック" panose="020B0400000000000000" pitchFamily="49" charset="-128"/>
                <a:ea typeface="BIZ UDゴシック" panose="020B0400000000000000" pitchFamily="49" charset="-128"/>
              </a:rPr>
              <a:t>制御の目標値です。例えば「摂氏</a:t>
            </a:r>
            <a:r>
              <a:rPr lang="en-US" altLang="ja-JP" sz="1400">
                <a:latin typeface="BIZ UDゴシック" panose="020B0400000000000000" pitchFamily="49" charset="-128"/>
                <a:ea typeface="BIZ UDゴシック" panose="020B0400000000000000" pitchFamily="49" charset="-128"/>
              </a:rPr>
              <a:t>25</a:t>
            </a:r>
            <a:r>
              <a:rPr lang="ja-JP" altLang="en-US" sz="1400">
                <a:latin typeface="BIZ UDゴシック" panose="020B0400000000000000" pitchFamily="49" charset="-128"/>
                <a:ea typeface="BIZ UDゴシック" panose="020B0400000000000000" pitchFamily="49" charset="-128"/>
              </a:rPr>
              <a:t>度」のように、コントローラーが目指すべき値を設定します。</a:t>
            </a:r>
          </a:p>
          <a:p>
            <a:pPr marL="285750" indent="-285750">
              <a:buFont typeface="Arial" panose="020B0604020202020204" pitchFamily="34" charset="0"/>
              <a:buChar char="•"/>
            </a:pPr>
            <a:r>
              <a:rPr lang="en-US" altLang="ja-JP" sz="1400">
                <a:latin typeface="BIZ UDゴシック" panose="020B0400000000000000" pitchFamily="49" charset="-128"/>
                <a:ea typeface="BIZ UDゴシック" panose="020B0400000000000000" pitchFamily="49" charset="-128"/>
              </a:rPr>
              <a:t>output_limits (</a:t>
            </a:r>
            <a:r>
              <a:rPr lang="ja-JP" altLang="en-US" sz="1400">
                <a:latin typeface="BIZ UDゴシック" panose="020B0400000000000000" pitchFamily="49" charset="-128"/>
                <a:ea typeface="BIZ UDゴシック" panose="020B0400000000000000" pitchFamily="49" charset="-128"/>
              </a:rPr>
              <a:t>タプル</a:t>
            </a:r>
            <a:r>
              <a:rPr lang="en-US" altLang="ja-JP" sz="1400">
                <a:latin typeface="BIZ UDゴシック" panose="020B0400000000000000" pitchFamily="49" charset="-128"/>
                <a:ea typeface="BIZ UDゴシック" panose="020B0400000000000000" pitchFamily="49" charset="-128"/>
              </a:rPr>
              <a:t>, </a:t>
            </a:r>
            <a:r>
              <a:rPr lang="ja-JP" altLang="en-US" sz="1400">
                <a:latin typeface="BIZ UDゴシック" panose="020B0400000000000000" pitchFamily="49" charset="-128"/>
                <a:ea typeface="BIZ UDゴシック" panose="020B0400000000000000" pitchFamily="49" charset="-128"/>
              </a:rPr>
              <a:t>例</a:t>
            </a:r>
            <a:r>
              <a:rPr lang="en-US" altLang="ja-JP" sz="1400">
                <a:latin typeface="BIZ UDゴシック" panose="020B0400000000000000" pitchFamily="49" charset="-128"/>
                <a:ea typeface="BIZ UDゴシック" panose="020B0400000000000000" pitchFamily="49" charset="-128"/>
              </a:rPr>
              <a:t>: (</a:t>
            </a:r>
            <a:r>
              <a:rPr lang="ja-JP" altLang="en-US" sz="1400">
                <a:latin typeface="BIZ UDゴシック" panose="020B0400000000000000" pitchFamily="49" charset="-128"/>
                <a:ea typeface="BIZ UDゴシック" panose="020B0400000000000000" pitchFamily="49" charset="-128"/>
              </a:rPr>
              <a:t>下限</a:t>
            </a:r>
            <a:r>
              <a:rPr lang="en-US" altLang="ja-JP" sz="1400">
                <a:latin typeface="BIZ UDゴシック" panose="020B0400000000000000" pitchFamily="49" charset="-128"/>
                <a:ea typeface="BIZ UDゴシック" panose="020B0400000000000000" pitchFamily="49" charset="-128"/>
              </a:rPr>
              <a:t>, </a:t>
            </a:r>
            <a:r>
              <a:rPr lang="ja-JP" altLang="en-US" sz="1400">
                <a:latin typeface="BIZ UDゴシック" panose="020B0400000000000000" pitchFamily="49" charset="-128"/>
                <a:ea typeface="BIZ UDゴシック" panose="020B0400000000000000" pitchFamily="49" charset="-128"/>
              </a:rPr>
              <a:t>上限</a:t>
            </a:r>
            <a:r>
              <a:rPr lang="en-US" altLang="ja-JP" sz="1400">
                <a:latin typeface="BIZ UDゴシック" panose="020B0400000000000000" pitchFamily="49" charset="-128"/>
                <a:ea typeface="BIZ UDゴシック" panose="020B0400000000000000" pitchFamily="49" charset="-128"/>
              </a:rPr>
              <a:t>)):</a:t>
            </a:r>
            <a:r>
              <a:rPr lang="ja-JP" altLang="en-US" sz="1400">
                <a:latin typeface="BIZ UDゴシック" panose="020B0400000000000000" pitchFamily="49" charset="-128"/>
                <a:ea typeface="BIZ UDゴシック" panose="020B0400000000000000" pitchFamily="49" charset="-128"/>
              </a:rPr>
              <a:t>コントローラーが出力する操作量の上限と下限を設定します。例えば、ヒーターの出力が</a:t>
            </a:r>
            <a:r>
              <a:rPr lang="en-US" altLang="ja-JP" sz="1400">
                <a:latin typeface="BIZ UDゴシック" panose="020B0400000000000000" pitchFamily="49" charset="-128"/>
                <a:ea typeface="BIZ UDゴシック" panose="020B0400000000000000" pitchFamily="49" charset="-128"/>
              </a:rPr>
              <a:t>0%</a:t>
            </a:r>
            <a:r>
              <a:rPr lang="ja-JP" altLang="en-US" sz="1400">
                <a:latin typeface="BIZ UDゴシック" panose="020B0400000000000000" pitchFamily="49" charset="-128"/>
                <a:ea typeface="BIZ UDゴシック" panose="020B0400000000000000" pitchFamily="49" charset="-128"/>
              </a:rPr>
              <a:t>～</a:t>
            </a:r>
            <a:r>
              <a:rPr lang="en-US" altLang="ja-JP" sz="1400">
                <a:latin typeface="BIZ UDゴシック" panose="020B0400000000000000" pitchFamily="49" charset="-128"/>
                <a:ea typeface="BIZ UDゴシック" panose="020B0400000000000000" pitchFamily="49" charset="-128"/>
              </a:rPr>
              <a:t>100%</a:t>
            </a:r>
            <a:r>
              <a:rPr lang="ja-JP" altLang="en-US" sz="1400">
                <a:latin typeface="BIZ UDゴシック" panose="020B0400000000000000" pitchFamily="49" charset="-128"/>
                <a:ea typeface="BIZ UDゴシック" panose="020B0400000000000000" pitchFamily="49" charset="-128"/>
              </a:rPr>
              <a:t>の範囲なら </a:t>
            </a:r>
            <a:r>
              <a:rPr lang="en-US" altLang="ja-JP" sz="1400">
                <a:latin typeface="BIZ UDゴシック" panose="020B0400000000000000" pitchFamily="49" charset="-128"/>
                <a:ea typeface="BIZ UDゴシック" panose="020B0400000000000000" pitchFamily="49" charset="-128"/>
              </a:rPr>
              <a:t>(0,100) </a:t>
            </a:r>
            <a:r>
              <a:rPr lang="ja-JP" altLang="en-US" sz="1400">
                <a:latin typeface="BIZ UDゴシック" panose="020B0400000000000000" pitchFamily="49" charset="-128"/>
                <a:ea typeface="BIZ UDゴシック" panose="020B0400000000000000" pitchFamily="49" charset="-128"/>
              </a:rPr>
              <a:t>とします。冷却も行う場合は </a:t>
            </a:r>
            <a:r>
              <a:rPr lang="en-US" altLang="ja-JP" sz="1400">
                <a:latin typeface="BIZ UDゴシック" panose="020B0400000000000000" pitchFamily="49" charset="-128"/>
                <a:ea typeface="BIZ UDゴシック" panose="020B0400000000000000" pitchFamily="49" charset="-128"/>
              </a:rPr>
              <a:t>(-100, 100)  </a:t>
            </a:r>
            <a:r>
              <a:rPr lang="ja-JP" altLang="en-US" sz="1400">
                <a:latin typeface="BIZ UDゴシック" panose="020B0400000000000000" pitchFamily="49" charset="-128"/>
                <a:ea typeface="BIZ UDゴシック" panose="020B0400000000000000" pitchFamily="49" charset="-128"/>
              </a:rPr>
              <a:t>のように負の値も使えます。</a:t>
            </a:r>
            <a:br>
              <a:rPr lang="en-US" altLang="ja-JP" sz="1400">
                <a:latin typeface="BIZ UDゴシック" panose="020B0400000000000000" pitchFamily="49" charset="-128"/>
                <a:ea typeface="BIZ UDゴシック" panose="020B0400000000000000" pitchFamily="49" charset="-128"/>
              </a:rPr>
            </a:br>
            <a:r>
              <a:rPr lang="ja-JP" altLang="en-US" sz="1400">
                <a:latin typeface="BIZ UDゴシック" panose="020B0400000000000000" pitchFamily="49" charset="-128"/>
                <a:ea typeface="BIZ UDゴシック" panose="020B0400000000000000" pitchFamily="49" charset="-128"/>
              </a:rPr>
              <a:t>これにより、過剰な出力（積分項の暴走、ワインドアップ）を防ぎます。</a:t>
            </a:r>
          </a:p>
          <a:p>
            <a:pPr marL="285750" indent="-285750">
              <a:buFont typeface="Arial" panose="020B0604020202020204" pitchFamily="34" charset="0"/>
              <a:buChar char="•"/>
            </a:pPr>
            <a:r>
              <a:rPr lang="en-US" altLang="ja-JP" sz="1400">
                <a:latin typeface="BIZ UDゴシック" panose="020B0400000000000000" pitchFamily="49" charset="-128"/>
                <a:ea typeface="BIZ UDゴシック" panose="020B0400000000000000" pitchFamily="49" charset="-128"/>
              </a:rPr>
              <a:t>sample_time (float):</a:t>
            </a:r>
            <a:r>
              <a:rPr lang="ja-JP" altLang="en-US" sz="1400">
                <a:latin typeface="BIZ UDゴシック" panose="020B0400000000000000" pitchFamily="49" charset="-128"/>
                <a:ea typeface="BIZ UDゴシック" panose="020B0400000000000000" pitchFamily="49" charset="-128"/>
              </a:rPr>
              <a:t>制御周期（秒）です。このライブラリは、この時間ごとに新しい操作量を計算します。</a:t>
            </a:r>
            <a:r>
              <a:rPr lang="en-US" altLang="ja-JP" sz="1400">
                <a:latin typeface="BIZ UDゴシック" panose="020B0400000000000000" pitchFamily="49" charset="-128"/>
                <a:ea typeface="BIZ UDゴシック" panose="020B0400000000000000" pitchFamily="49" charset="-128"/>
              </a:rPr>
              <a:t>0.01 (100Hz) </a:t>
            </a:r>
            <a:r>
              <a:rPr lang="ja-JP" altLang="en-US" sz="1400">
                <a:latin typeface="BIZ UDゴシック" panose="020B0400000000000000" pitchFamily="49" charset="-128"/>
                <a:ea typeface="BIZ UDゴシック" panose="020B0400000000000000" pitchFamily="49" charset="-128"/>
              </a:rPr>
              <a:t>や </a:t>
            </a:r>
            <a:r>
              <a:rPr lang="en-US" altLang="ja-JP" sz="1400">
                <a:latin typeface="BIZ UDゴシック" panose="020B0400000000000000" pitchFamily="49" charset="-128"/>
                <a:ea typeface="BIZ UDゴシック" panose="020B0400000000000000" pitchFamily="49" charset="-128"/>
              </a:rPr>
              <a:t>0.1  (10Hz) </a:t>
            </a:r>
            <a:r>
              <a:rPr lang="ja-JP" altLang="en-US" sz="1400">
                <a:latin typeface="BIZ UDゴシック" panose="020B0400000000000000" pitchFamily="49" charset="-128"/>
                <a:ea typeface="BIZ UDゴシック" panose="020B0400000000000000" pitchFamily="49" charset="-128"/>
              </a:rPr>
              <a:t>など、制御対象に合わせて設定します。</a:t>
            </a:r>
            <a:endParaRPr lang="en-US" altLang="ja-JP" sz="1400">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2782242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634C36-BDD5-DCA8-BDA5-004CCE6692A4}"/>
              </a:ext>
            </a:extLst>
          </p:cNvPr>
          <p:cNvSpPr>
            <a:spLocks noGrp="1"/>
          </p:cNvSpPr>
          <p:nvPr>
            <p:ph type="title"/>
          </p:nvPr>
        </p:nvSpPr>
        <p:spPr/>
        <p:txBody>
          <a:bodyPr>
            <a:normAutofit fontScale="90000"/>
          </a:bodyPr>
          <a:lstStyle/>
          <a:p>
            <a:endParaRPr kumimoji="1" lang="ja-JP" altLang="en-US"/>
          </a:p>
        </p:txBody>
      </p:sp>
      <p:graphicFrame>
        <p:nvGraphicFramePr>
          <p:cNvPr id="6" name="表 5">
            <a:extLst>
              <a:ext uri="{FF2B5EF4-FFF2-40B4-BE49-F238E27FC236}">
                <a16:creationId xmlns:a16="http://schemas.microsoft.com/office/drawing/2014/main" id="{F76EB046-16AE-6B52-9890-7C1A408F1958}"/>
              </a:ext>
            </a:extLst>
          </p:cNvPr>
          <p:cNvGraphicFramePr>
            <a:graphicFrameLocks noGrp="1"/>
          </p:cNvGraphicFramePr>
          <p:nvPr>
            <p:extLst>
              <p:ext uri="{D42A27DB-BD31-4B8C-83A1-F6EECF244321}">
                <p14:modId xmlns:p14="http://schemas.microsoft.com/office/powerpoint/2010/main" val="4244154516"/>
              </p:ext>
            </p:extLst>
          </p:nvPr>
        </p:nvGraphicFramePr>
        <p:xfrm>
          <a:off x="619991" y="1062337"/>
          <a:ext cx="11339945" cy="5430538"/>
        </p:xfrm>
        <a:graphic>
          <a:graphicData uri="http://schemas.openxmlformats.org/drawingml/2006/table">
            <a:tbl>
              <a:tblPr/>
              <a:tblGrid>
                <a:gridCol w="2039482">
                  <a:extLst>
                    <a:ext uri="{9D8B030D-6E8A-4147-A177-3AD203B41FA5}">
                      <a16:colId xmlns:a16="http://schemas.microsoft.com/office/drawing/2014/main" val="3420264187"/>
                    </a:ext>
                  </a:extLst>
                </a:gridCol>
                <a:gridCol w="1270672">
                  <a:extLst>
                    <a:ext uri="{9D8B030D-6E8A-4147-A177-3AD203B41FA5}">
                      <a16:colId xmlns:a16="http://schemas.microsoft.com/office/drawing/2014/main" val="4233423420"/>
                    </a:ext>
                  </a:extLst>
                </a:gridCol>
                <a:gridCol w="843555">
                  <a:extLst>
                    <a:ext uri="{9D8B030D-6E8A-4147-A177-3AD203B41FA5}">
                      <a16:colId xmlns:a16="http://schemas.microsoft.com/office/drawing/2014/main" val="384318565"/>
                    </a:ext>
                  </a:extLst>
                </a:gridCol>
                <a:gridCol w="1367327">
                  <a:extLst>
                    <a:ext uri="{9D8B030D-6E8A-4147-A177-3AD203B41FA5}">
                      <a16:colId xmlns:a16="http://schemas.microsoft.com/office/drawing/2014/main" val="1377778596"/>
                    </a:ext>
                  </a:extLst>
                </a:gridCol>
                <a:gridCol w="1246909">
                  <a:extLst>
                    <a:ext uri="{9D8B030D-6E8A-4147-A177-3AD203B41FA5}">
                      <a16:colId xmlns:a16="http://schemas.microsoft.com/office/drawing/2014/main" val="4280121130"/>
                    </a:ext>
                  </a:extLst>
                </a:gridCol>
                <a:gridCol w="642528">
                  <a:extLst>
                    <a:ext uri="{9D8B030D-6E8A-4147-A177-3AD203B41FA5}">
                      <a16:colId xmlns:a16="http://schemas.microsoft.com/office/drawing/2014/main" val="3537210455"/>
                    </a:ext>
                  </a:extLst>
                </a:gridCol>
                <a:gridCol w="3929472">
                  <a:extLst>
                    <a:ext uri="{9D8B030D-6E8A-4147-A177-3AD203B41FA5}">
                      <a16:colId xmlns:a16="http://schemas.microsoft.com/office/drawing/2014/main" val="89758195"/>
                    </a:ext>
                  </a:extLst>
                </a:gridCol>
              </a:tblGrid>
              <a:tr h="155952">
                <a:tc>
                  <a:txBody>
                    <a:bodyPr/>
                    <a:lstStyle/>
                    <a:p>
                      <a:pPr algn="ctr"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パラメータ名</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日本語名</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型</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最大値</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最小値</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初期値</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意味</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3056484"/>
                  </a:ext>
                </a:extLst>
              </a:tr>
              <a:tr h="155952">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Kp</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P</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ゲイン</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比例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float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1</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偏差に比例して操作量を決定する係数</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7149908"/>
                  </a:ext>
                </a:extLst>
              </a:tr>
              <a:tr h="155952">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Ki</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I</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ゲイン</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積分</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float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0</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偏差の蓄積量に応じて操作量を決定する係数</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6146309"/>
                  </a:ext>
                </a:extLst>
              </a:tr>
              <a:tr h="155952">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Kd</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D</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ゲイン</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微分</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float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0</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偏差の変化率に応じて操作量を決定する係数</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4112700"/>
                  </a:ext>
                </a:extLst>
              </a:tr>
              <a:tr h="155952">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setpoint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目標値</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float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0</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制御が目</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z</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すべき目標の値</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0118338"/>
                  </a:ext>
                </a:extLst>
              </a:tr>
              <a:tr h="155952">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sample_time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サンプル時間</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float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0</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より大きい値</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0.01</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制御計算を行う時間間隔（秒）</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6435593"/>
                  </a:ext>
                </a:extLst>
              </a:tr>
              <a:tr h="155952">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output_limits</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出力制限</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(float, float)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タプル内の</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2</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番目の値</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タプル内の</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1</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番目の値</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(None, None)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操作量の最小値と最大値のタプル。</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None</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は制限なし</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03472"/>
                  </a:ext>
                </a:extLst>
              </a:tr>
              <a:tr h="155952">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auto_mode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自動モード</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bool</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TRUE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FALSE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TRUE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True</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で制御有効、</a:t>
                      </a: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False</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で無効</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0780838"/>
                  </a:ext>
                </a:extLst>
              </a:tr>
              <a:tr h="311903">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proportional_on_measurement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P on Measurement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bool</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TRUE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FALSE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FALSE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高度な設定</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 P</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ゲインを偏差ではなく入力値の変化に適用するモード。オーバーシュート抑制に使う</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4844064"/>
                  </a:ext>
                </a:extLst>
              </a:tr>
              <a:tr h="311903">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differential_on_measurement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D on Measurement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bool</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TRUE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FALSE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TRUE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高度な設定</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 D</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ゲインを偏差ではなく入力値の変化に適用するモード。ノイズに強い</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6609864"/>
                  </a:ext>
                </a:extLst>
              </a:tr>
              <a:tr h="155952">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error_map</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エラーマップ関数</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callable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該当なし</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該当なし</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None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高度な設定</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 </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偏差値を別の値に変換するためのカスタム関数</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0999665"/>
                  </a:ext>
                </a:extLst>
              </a:tr>
              <a:tr h="311903">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time_fn</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時間関数</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callable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該当なし</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該当なし</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None</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高度な設定</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 </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現在時刻を取得するためのカスタム関数。デフォルトは </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time.monotonic</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4631021"/>
                  </a:ext>
                </a:extLst>
              </a:tr>
              <a:tr h="155952">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starting_output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初期出力</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BIZ UDゴシック" panose="020B0400000000000000" pitchFamily="49" charset="-128"/>
                          <a:ea typeface="BIZ UDゴシック" panose="020B0400000000000000" pitchFamily="49" charset="-128"/>
                        </a:rPr>
                        <a:t>float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制御対象による</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0</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高度な設定</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 </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手動から自動モードへ切り替える際の、</a:t>
                      </a:r>
                      <a:r>
                        <a:rPr lang="en-US" altLang="ja-JP" sz="1400" b="0" i="0" u="none" strike="noStrike">
                          <a:solidFill>
                            <a:srgbClr val="000000"/>
                          </a:solidFill>
                          <a:effectLst/>
                          <a:latin typeface="BIZ UDゴシック" panose="020B0400000000000000" pitchFamily="49" charset="-128"/>
                          <a:ea typeface="BIZ UDゴシック" panose="020B0400000000000000" pitchFamily="49" charset="-128"/>
                        </a:rPr>
                        <a:t>PID</a:t>
                      </a:r>
                      <a:r>
                        <a:rPr lang="ja-JP" altLang="en-US" sz="1400" b="0" i="0" u="none" strike="noStrike">
                          <a:solidFill>
                            <a:srgbClr val="000000"/>
                          </a:solidFill>
                          <a:effectLst/>
                          <a:latin typeface="BIZ UDゴシック" panose="020B0400000000000000" pitchFamily="49" charset="-128"/>
                          <a:ea typeface="BIZ UDゴシック" panose="020B0400000000000000" pitchFamily="49" charset="-128"/>
                        </a:rPr>
                        <a:t>の初期出力値</a:t>
                      </a:r>
                    </a:p>
                  </a:txBody>
                  <a:tcPr marL="7426" marR="7426" marT="74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7558295"/>
                  </a:ext>
                </a:extLst>
              </a:tr>
            </a:tbl>
          </a:graphicData>
        </a:graphic>
      </p:graphicFrame>
    </p:spTree>
    <p:extLst>
      <p:ext uri="{BB962C8B-B14F-4D97-AF65-F5344CB8AC3E}">
        <p14:creationId xmlns:p14="http://schemas.microsoft.com/office/powerpoint/2010/main" val="1810877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AFD7FD-1DE3-4A58-5BCE-1B3DF84DBB5A}"/>
              </a:ext>
            </a:extLst>
          </p:cNvPr>
          <p:cNvSpPr>
            <a:spLocks noGrp="1"/>
          </p:cNvSpPr>
          <p:nvPr>
            <p:ph type="title"/>
          </p:nvPr>
        </p:nvSpPr>
        <p:spPr/>
        <p:txBody>
          <a:bodyPr>
            <a:normAutofit fontScale="90000"/>
          </a:bodyPr>
          <a:lstStyle/>
          <a:p>
            <a:r>
              <a:rPr lang="en-US" altLang="ja-JP"/>
              <a:t>transitions</a:t>
            </a:r>
            <a:r>
              <a:rPr lang="ja-JP" altLang="en-US"/>
              <a:t>ライブラリ</a:t>
            </a:r>
            <a:endParaRPr kumimoji="1" lang="ja-JP" altLang="en-US"/>
          </a:p>
        </p:txBody>
      </p:sp>
      <p:graphicFrame>
        <p:nvGraphicFramePr>
          <p:cNvPr id="4" name="表 3">
            <a:extLst>
              <a:ext uri="{FF2B5EF4-FFF2-40B4-BE49-F238E27FC236}">
                <a16:creationId xmlns:a16="http://schemas.microsoft.com/office/drawing/2014/main" id="{85540EE7-668E-F01D-8386-A7F454CD94ED}"/>
              </a:ext>
            </a:extLst>
          </p:cNvPr>
          <p:cNvGraphicFramePr>
            <a:graphicFrameLocks noGrp="1"/>
          </p:cNvGraphicFramePr>
          <p:nvPr>
            <p:extLst>
              <p:ext uri="{D42A27DB-BD31-4B8C-83A1-F6EECF244321}">
                <p14:modId xmlns:p14="http://schemas.microsoft.com/office/powerpoint/2010/main" val="188402569"/>
              </p:ext>
            </p:extLst>
          </p:nvPr>
        </p:nvGraphicFramePr>
        <p:xfrm>
          <a:off x="671947" y="1150287"/>
          <a:ext cx="10515598" cy="3758909"/>
        </p:xfrm>
        <a:graphic>
          <a:graphicData uri="http://schemas.openxmlformats.org/drawingml/2006/table">
            <a:tbl>
              <a:tblPr/>
              <a:tblGrid>
                <a:gridCol w="1136071">
                  <a:extLst>
                    <a:ext uri="{9D8B030D-6E8A-4147-A177-3AD203B41FA5}">
                      <a16:colId xmlns:a16="http://schemas.microsoft.com/office/drawing/2014/main" val="3462177447"/>
                    </a:ext>
                  </a:extLst>
                </a:gridCol>
                <a:gridCol w="951985">
                  <a:extLst>
                    <a:ext uri="{9D8B030D-6E8A-4147-A177-3AD203B41FA5}">
                      <a16:colId xmlns:a16="http://schemas.microsoft.com/office/drawing/2014/main" val="496708921"/>
                    </a:ext>
                  </a:extLst>
                </a:gridCol>
                <a:gridCol w="872621">
                  <a:extLst>
                    <a:ext uri="{9D8B030D-6E8A-4147-A177-3AD203B41FA5}">
                      <a16:colId xmlns:a16="http://schemas.microsoft.com/office/drawing/2014/main" val="1643810123"/>
                    </a:ext>
                  </a:extLst>
                </a:gridCol>
                <a:gridCol w="633689">
                  <a:extLst>
                    <a:ext uri="{9D8B030D-6E8A-4147-A177-3AD203B41FA5}">
                      <a16:colId xmlns:a16="http://schemas.microsoft.com/office/drawing/2014/main" val="301468351"/>
                    </a:ext>
                  </a:extLst>
                </a:gridCol>
                <a:gridCol w="1340096">
                  <a:extLst>
                    <a:ext uri="{9D8B030D-6E8A-4147-A177-3AD203B41FA5}">
                      <a16:colId xmlns:a16="http://schemas.microsoft.com/office/drawing/2014/main" val="2011264838"/>
                    </a:ext>
                  </a:extLst>
                </a:gridCol>
                <a:gridCol w="1051819">
                  <a:extLst>
                    <a:ext uri="{9D8B030D-6E8A-4147-A177-3AD203B41FA5}">
                      <a16:colId xmlns:a16="http://schemas.microsoft.com/office/drawing/2014/main" val="2423053324"/>
                    </a:ext>
                  </a:extLst>
                </a:gridCol>
                <a:gridCol w="4529317">
                  <a:extLst>
                    <a:ext uri="{9D8B030D-6E8A-4147-A177-3AD203B41FA5}">
                      <a16:colId xmlns:a16="http://schemas.microsoft.com/office/drawing/2014/main" val="83229918"/>
                    </a:ext>
                  </a:extLst>
                </a:gridCol>
              </a:tblGrid>
              <a:tr h="163657">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種別</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パラメータ名 </a:t>
                      </a:r>
                      <a:r>
                        <a:rPr lang="en-US" altLang="ja-JP" sz="1200" b="0" i="0" u="none" strike="noStrike">
                          <a:solidFill>
                            <a:srgbClr val="000000"/>
                          </a:solidFill>
                          <a:effectLst/>
                          <a:latin typeface="Meiryo UI" panose="020B0604030504040204" pitchFamily="50" charset="-128"/>
                          <a:ea typeface="Meiryo UI" panose="020B0604030504040204" pitchFamily="50" charset="-128"/>
                        </a:rPr>
                        <a:t>/ </a:t>
                      </a:r>
                      <a:r>
                        <a:rPr lang="ja-JP" altLang="en-US" sz="1200" b="0" i="0" u="none" strike="noStrike">
                          <a:solidFill>
                            <a:srgbClr val="000000"/>
                          </a:solidFill>
                          <a:effectLst/>
                          <a:latin typeface="Meiryo UI" panose="020B0604030504040204" pitchFamily="50" charset="-128"/>
                          <a:ea typeface="Meiryo UI" panose="020B0604030504040204" pitchFamily="50" charset="-128"/>
                        </a:rPr>
                        <a:t>キー名</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日本語名</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型</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設定例</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初期値 </a:t>
                      </a:r>
                      <a:r>
                        <a:rPr lang="en-US" altLang="ja-JP" sz="1200" b="0" i="0" u="none" strike="noStrike">
                          <a:solidFill>
                            <a:srgbClr val="000000"/>
                          </a:solidFill>
                          <a:effectLst/>
                          <a:latin typeface="Meiryo UI" panose="020B0604030504040204" pitchFamily="50" charset="-128"/>
                          <a:ea typeface="Meiryo UI" panose="020B0604030504040204" pitchFamily="50" charset="-128"/>
                        </a:rPr>
                        <a:t>/ </a:t>
                      </a:r>
                      <a:r>
                        <a:rPr lang="ja-JP" altLang="en-US" sz="1200" b="0" i="0" u="none" strike="noStrike">
                          <a:solidFill>
                            <a:srgbClr val="000000"/>
                          </a:solidFill>
                          <a:effectLst/>
                          <a:latin typeface="Meiryo UI" panose="020B0604030504040204" pitchFamily="50" charset="-128"/>
                          <a:ea typeface="Meiryo UI" panose="020B0604030504040204" pitchFamily="50" charset="-128"/>
                        </a:rPr>
                        <a:t>デフォルト</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意味</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879395557"/>
                  </a:ext>
                </a:extLst>
              </a:tr>
              <a:tr h="163657">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Machine</a:t>
                      </a:r>
                      <a:r>
                        <a:rPr lang="ja-JP" altLang="en-US" sz="1200" b="0" i="0" u="none" strike="noStrike">
                          <a:solidFill>
                            <a:srgbClr val="000000"/>
                          </a:solidFill>
                          <a:effectLst/>
                          <a:latin typeface="Meiryo UI" panose="020B0604030504040204" pitchFamily="50" charset="-128"/>
                          <a:ea typeface="Meiryo UI" panose="020B0604030504040204" pitchFamily="50" charset="-128"/>
                        </a:rPr>
                        <a:t>初期化</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model</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モデル</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object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'self'</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None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状態を持たせたいオブジェクト自体</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0190020"/>
                  </a:ext>
                </a:extLst>
              </a:tr>
              <a:tr h="163657">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Machine</a:t>
                      </a:r>
                      <a:r>
                        <a:rPr lang="ja-JP" altLang="en-US" sz="1200" b="0" i="0" u="none" strike="noStrike">
                          <a:solidFill>
                            <a:srgbClr val="000000"/>
                          </a:solidFill>
                          <a:effectLst/>
                          <a:latin typeface="Meiryo UI" panose="020B0604030504040204" pitchFamily="50" charset="-128"/>
                          <a:ea typeface="Meiryo UI" panose="020B0604030504040204" pitchFamily="50" charset="-128"/>
                        </a:rPr>
                        <a:t>初期化</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states</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状態リスト</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list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['S1', 'S2']</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200" b="0" i="0" u="none" strike="noStrike">
                          <a:solidFill>
                            <a:srgbClr val="000000"/>
                          </a:solidFill>
                          <a:effectLst/>
                          <a:latin typeface="Meiryo UI" panose="020B0604030504040204" pitchFamily="50" charset="-128"/>
                          <a:ea typeface="Meiryo UI" panose="020B0604030504040204" pitchFamily="50" charset="-128"/>
                        </a:rPr>
                        <a: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システムが取りうる全ての状態名のリスト</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8148478"/>
                  </a:ext>
                </a:extLst>
              </a:tr>
              <a:tr h="163657">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Machine</a:t>
                      </a:r>
                      <a:r>
                        <a:rPr lang="ja-JP" altLang="en-US" sz="1200" b="0" i="0" u="none" strike="noStrike">
                          <a:solidFill>
                            <a:srgbClr val="000000"/>
                          </a:solidFill>
                          <a:effectLst/>
                          <a:latin typeface="Meiryo UI" panose="020B0604030504040204" pitchFamily="50" charset="-128"/>
                          <a:ea typeface="Meiryo UI" panose="020B0604030504040204" pitchFamily="50" charset="-128"/>
                        </a:rPr>
                        <a:t>初期化</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transitions</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遷移リスト</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list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[{'trigger': 'E1', ...}]</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200" b="0" i="0" u="none" strike="noStrike">
                          <a:solidFill>
                            <a:srgbClr val="000000"/>
                          </a:solidFill>
                          <a:effectLst/>
                          <a:latin typeface="Meiryo UI" panose="020B0604030504040204" pitchFamily="50" charset="-128"/>
                          <a:ea typeface="Meiryo UI" panose="020B0604030504040204" pitchFamily="50" charset="-128"/>
                        </a:rPr>
                        <a: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状態遷移のルールを定義した辞書のリスト</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1659996"/>
                  </a:ext>
                </a:extLst>
              </a:tr>
              <a:tr h="163657">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Machine</a:t>
                      </a:r>
                      <a:r>
                        <a:rPr lang="ja-JP" altLang="en-US" sz="1200" b="0" i="0" u="none" strike="noStrike">
                          <a:solidFill>
                            <a:srgbClr val="000000"/>
                          </a:solidFill>
                          <a:effectLst/>
                          <a:latin typeface="Meiryo UI" panose="020B0604030504040204" pitchFamily="50" charset="-128"/>
                          <a:ea typeface="Meiryo UI" panose="020B0604030504040204" pitchFamily="50" charset="-128"/>
                        </a:rPr>
                        <a:t>初期化</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initial</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初期状態</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str</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'S1'</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None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マシンが最初にいる状態の名前</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808351"/>
                  </a:ext>
                </a:extLst>
              </a:tr>
              <a:tr h="163657">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Machine</a:t>
                      </a:r>
                      <a:r>
                        <a:rPr lang="ja-JP" altLang="en-US" sz="1200" b="0" i="0" u="none" strike="noStrike">
                          <a:solidFill>
                            <a:srgbClr val="000000"/>
                          </a:solidFill>
                          <a:effectLst/>
                          <a:latin typeface="Meiryo UI" panose="020B0604030504040204" pitchFamily="50" charset="-128"/>
                          <a:ea typeface="Meiryo UI" panose="020B0604030504040204" pitchFamily="50" charset="-128"/>
                        </a:rPr>
                        <a:t>初期化</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auto_transitions</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自動遷移</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bool</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FALSE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TRUE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200" b="0" i="0" u="none" strike="noStrike">
                          <a:solidFill>
                            <a:srgbClr val="000000"/>
                          </a:solidFill>
                          <a:effectLst/>
                          <a:latin typeface="Meiryo UI" panose="020B0604030504040204" pitchFamily="50" charset="-128"/>
                          <a:ea typeface="Meiryo UI" panose="020B0604030504040204" pitchFamily="50" charset="-128"/>
                        </a:rPr>
                        <a:t>to_</a:t>
                      </a:r>
                      <a:r>
                        <a:rPr lang="ja-JP" altLang="en-US" sz="1200" b="0" i="0" u="none" strike="noStrike">
                          <a:solidFill>
                            <a:srgbClr val="000000"/>
                          </a:solidFill>
                          <a:effectLst/>
                          <a:latin typeface="Meiryo UI" panose="020B0604030504040204" pitchFamily="50" charset="-128"/>
                          <a:ea typeface="Meiryo UI" panose="020B0604030504040204" pitchFamily="50" charset="-128"/>
                        </a:rPr>
                        <a:t>状態名</a:t>
                      </a:r>
                      <a:r>
                        <a:rPr lang="en-US" altLang="ja-JP" sz="1200" b="0" i="0" u="none" strike="noStrike">
                          <a:solidFill>
                            <a:srgbClr val="000000"/>
                          </a:solidFill>
                          <a:effectLst/>
                          <a:latin typeface="Meiryo UI" panose="020B0604030504040204" pitchFamily="50" charset="-128"/>
                          <a:ea typeface="Meiryo UI" panose="020B0604030504040204" pitchFamily="50" charset="-128"/>
                        </a:rPr>
                        <a:t>()</a:t>
                      </a:r>
                      <a:r>
                        <a:rPr lang="ja-JP" altLang="en-US" sz="1200" b="0" i="0" u="none" strike="noStrike">
                          <a:solidFill>
                            <a:srgbClr val="000000"/>
                          </a:solidFill>
                          <a:effectLst/>
                          <a:latin typeface="Meiryo UI" panose="020B0604030504040204" pitchFamily="50" charset="-128"/>
                          <a:ea typeface="Meiryo UI" panose="020B0604030504040204" pitchFamily="50" charset="-128"/>
                        </a:rPr>
                        <a:t>というメソッドで直接遷移できるか。通常は</a:t>
                      </a:r>
                      <a:r>
                        <a:rPr lang="en-US" altLang="ja-JP" sz="1200" b="0" i="0" u="none" strike="noStrike">
                          <a:solidFill>
                            <a:srgbClr val="000000"/>
                          </a:solidFill>
                          <a:effectLst/>
                          <a:latin typeface="Meiryo UI" panose="020B0604030504040204" pitchFamily="50" charset="-128"/>
                          <a:ea typeface="Meiryo UI" panose="020B0604030504040204" pitchFamily="50" charset="-128"/>
                        </a:rPr>
                        <a:t>False</a:t>
                      </a:r>
                      <a:r>
                        <a:rPr lang="ja-JP" altLang="en-US" sz="1200" b="0" i="0" u="none" strike="noStrike">
                          <a:solidFill>
                            <a:srgbClr val="000000"/>
                          </a:solidFill>
                          <a:effectLst/>
                          <a:latin typeface="Meiryo UI" panose="020B0604030504040204" pitchFamily="50" charset="-128"/>
                          <a:ea typeface="Meiryo UI" panose="020B0604030504040204" pitchFamily="50" charset="-128"/>
                        </a:rPr>
                        <a:t>でトリガーを使うのが一般的</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588049"/>
                  </a:ext>
                </a:extLst>
              </a:tr>
              <a:tr h="163657">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Machine</a:t>
                      </a:r>
                      <a:r>
                        <a:rPr lang="ja-JP" altLang="en-US" sz="1200" b="0" i="0" u="none" strike="noStrike">
                          <a:solidFill>
                            <a:srgbClr val="000000"/>
                          </a:solidFill>
                          <a:effectLst/>
                          <a:latin typeface="Meiryo UI" panose="020B0604030504040204" pitchFamily="50" charset="-128"/>
                          <a:ea typeface="Meiryo UI" panose="020B0604030504040204" pitchFamily="50" charset="-128"/>
                        </a:rPr>
                        <a:t>初期化</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queued</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キュー機能</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bool / str</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TRUE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FALSE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イベントを順番に処理するキューを有効にするか</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1496605"/>
                  </a:ext>
                </a:extLst>
              </a:tr>
              <a:tr h="163657">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遷移ルール</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trigger</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トリガー</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str</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'E2'</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200" b="0" i="0" u="none" strike="noStrike">
                          <a:solidFill>
                            <a:srgbClr val="000000"/>
                          </a:solidFill>
                          <a:effectLst/>
                          <a:latin typeface="Meiryo UI" panose="020B0604030504040204" pitchFamily="50" charset="-128"/>
                          <a:ea typeface="Meiryo UI" panose="020B0604030504040204" pitchFamily="50" charset="-128"/>
                        </a:rPr>
                        <a:t>(</a:t>
                      </a:r>
                      <a:r>
                        <a:rPr lang="ja-JP" altLang="en-US" sz="1200" b="0" i="0" u="none" strike="noStrike">
                          <a:solidFill>
                            <a:srgbClr val="000000"/>
                          </a:solidFill>
                          <a:effectLst/>
                          <a:latin typeface="Meiryo UI" panose="020B0604030504040204" pitchFamily="50" charset="-128"/>
                          <a:ea typeface="Meiryo UI" panose="020B0604030504040204" pitchFamily="50" charset="-128"/>
                        </a:rPr>
                        <a:t>必須</a:t>
                      </a:r>
                      <a:r>
                        <a:rPr lang="en-US" altLang="ja-JP" sz="1200" b="0" i="0" u="none" strike="noStrike">
                          <a:solidFill>
                            <a:srgbClr val="000000"/>
                          </a:solidFill>
                          <a:effectLst/>
                          <a:latin typeface="Meiryo UI" panose="020B0604030504040204" pitchFamily="50" charset="-128"/>
                          <a:ea typeface="Meiryo UI" panose="020B0604030504040204" pitchFamily="50" charset="-128"/>
                        </a:rPr>
                        <a: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この遷移を引き起こすイベント（きっかけ）の名前。メソッド名になる</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0595364"/>
                  </a:ext>
                </a:extLst>
              </a:tr>
              <a:tr h="163657">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遷移ルール</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source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遷移元状態</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str / list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'S1'</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200" b="0" i="0" u="none" strike="noStrike">
                          <a:solidFill>
                            <a:srgbClr val="000000"/>
                          </a:solidFill>
                          <a:effectLst/>
                          <a:latin typeface="Meiryo UI" panose="020B0604030504040204" pitchFamily="50" charset="-128"/>
                          <a:ea typeface="Meiryo UI" panose="020B0604030504040204" pitchFamily="50" charset="-128"/>
                        </a:rPr>
                        <a:t>(</a:t>
                      </a:r>
                      <a:r>
                        <a:rPr lang="ja-JP" altLang="en-US" sz="1200" b="0" i="0" u="none" strike="noStrike">
                          <a:solidFill>
                            <a:srgbClr val="000000"/>
                          </a:solidFill>
                          <a:effectLst/>
                          <a:latin typeface="Meiryo UI" panose="020B0604030504040204" pitchFamily="50" charset="-128"/>
                          <a:ea typeface="Meiryo UI" panose="020B0604030504040204" pitchFamily="50" charset="-128"/>
                        </a:rPr>
                        <a:t>必須</a:t>
                      </a:r>
                      <a:r>
                        <a:rPr lang="en-US" altLang="ja-JP" sz="1200" b="0" i="0" u="none" strike="noStrike">
                          <a:solidFill>
                            <a:srgbClr val="000000"/>
                          </a:solidFill>
                          <a:effectLst/>
                          <a:latin typeface="Meiryo UI" panose="020B0604030504040204" pitchFamily="50" charset="-128"/>
                          <a:ea typeface="Meiryo UI" panose="020B0604030504040204" pitchFamily="50" charset="-128"/>
                        </a:rPr>
                        <a: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このトリガーが有効になる状態。</a:t>
                      </a:r>
                      <a:r>
                        <a:rPr lang="en-US" altLang="ja-JP" sz="1200" b="0" i="0" u="none" strike="noStrike">
                          <a:solidFill>
                            <a:srgbClr val="000000"/>
                          </a:solidFill>
                          <a:effectLst/>
                          <a:latin typeface="Meiryo UI" panose="020B0604030504040204" pitchFamily="50" charset="-128"/>
                          <a:ea typeface="Meiryo UI" panose="020B0604030504040204" pitchFamily="50" charset="-128"/>
                        </a:rPr>
                        <a:t>'*'</a:t>
                      </a:r>
                      <a:r>
                        <a:rPr lang="ja-JP" altLang="en-US" sz="1200" b="0" i="0" u="none" strike="noStrike">
                          <a:solidFill>
                            <a:srgbClr val="000000"/>
                          </a:solidFill>
                          <a:effectLst/>
                          <a:latin typeface="Meiryo UI" panose="020B0604030504040204" pitchFamily="50" charset="-128"/>
                          <a:ea typeface="Meiryo UI" panose="020B0604030504040204" pitchFamily="50" charset="-128"/>
                        </a:rPr>
                        <a:t>は全ての状態が対象</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0269245"/>
                  </a:ext>
                </a:extLst>
              </a:tr>
              <a:tr h="163657">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遷移ルール</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dest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遷移先状態</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str</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'S4'</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200" b="0" i="0" u="none" strike="noStrike">
                          <a:solidFill>
                            <a:srgbClr val="000000"/>
                          </a:solidFill>
                          <a:effectLst/>
                          <a:latin typeface="Meiryo UI" panose="020B0604030504040204" pitchFamily="50" charset="-128"/>
                          <a:ea typeface="Meiryo UI" panose="020B0604030504040204" pitchFamily="50" charset="-128"/>
                        </a:rPr>
                        <a:t>(</a:t>
                      </a:r>
                      <a:r>
                        <a:rPr lang="ja-JP" altLang="en-US" sz="1200" b="0" i="0" u="none" strike="noStrike">
                          <a:solidFill>
                            <a:srgbClr val="000000"/>
                          </a:solidFill>
                          <a:effectLst/>
                          <a:latin typeface="Meiryo UI" panose="020B0604030504040204" pitchFamily="50" charset="-128"/>
                          <a:ea typeface="Meiryo UI" panose="020B0604030504040204" pitchFamily="50" charset="-128"/>
                        </a:rPr>
                        <a:t>必須</a:t>
                      </a:r>
                      <a:r>
                        <a:rPr lang="en-US" altLang="ja-JP" sz="1200" b="0" i="0" u="none" strike="noStrike">
                          <a:solidFill>
                            <a:srgbClr val="000000"/>
                          </a:solidFill>
                          <a:effectLst/>
                          <a:latin typeface="Meiryo UI" panose="020B0604030504040204" pitchFamily="50" charset="-128"/>
                          <a:ea typeface="Meiryo UI" panose="020B0604030504040204" pitchFamily="50" charset="-128"/>
                        </a:rPr>
                        <a: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トリガーが実行された後に移る状態</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5657127"/>
                  </a:ext>
                </a:extLst>
              </a:tr>
              <a:tr h="163657">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遷移ルール</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conditions</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条件</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str / list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'is_hot'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None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遷移を実行するための追加条件（ガード条件）。</a:t>
                      </a:r>
                      <a:r>
                        <a:rPr lang="en-US" altLang="ja-JP" sz="1200" b="0" i="0" u="none" strike="noStrike">
                          <a:solidFill>
                            <a:srgbClr val="000000"/>
                          </a:solidFill>
                          <a:effectLst/>
                          <a:latin typeface="Meiryo UI" panose="020B0604030504040204" pitchFamily="50" charset="-128"/>
                          <a:ea typeface="Meiryo UI" panose="020B0604030504040204" pitchFamily="50" charset="-128"/>
                        </a:rPr>
                        <a:t>True</a:t>
                      </a:r>
                      <a:r>
                        <a:rPr lang="ja-JP" altLang="en-US" sz="1200" b="0" i="0" u="none" strike="noStrike">
                          <a:solidFill>
                            <a:srgbClr val="000000"/>
                          </a:solidFill>
                          <a:effectLst/>
                          <a:latin typeface="Meiryo UI" panose="020B0604030504040204" pitchFamily="50" charset="-128"/>
                          <a:ea typeface="Meiryo UI" panose="020B0604030504040204" pitchFamily="50" charset="-128"/>
                        </a:rPr>
                        <a:t>を返すメソッド名を指定</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96708"/>
                  </a:ext>
                </a:extLst>
              </a:tr>
              <a:tr h="163657">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遷移ルール</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before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事前コールバック</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str / list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'log_entry'</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None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状態が遷移する前に実行される処理（メソッド名）</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4773495"/>
                  </a:ext>
                </a:extLst>
              </a:tr>
              <a:tr h="163657">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遷移ルール</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after</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事後コールバック</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str / list</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'update_display'</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Meiryo UI" panose="020B0604030504040204" pitchFamily="50" charset="-128"/>
                          <a:ea typeface="Meiryo UI" panose="020B0604030504040204" pitchFamily="50" charset="-128"/>
                        </a:rPr>
                        <a:t>None</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200" b="0" i="0" u="none" strike="noStrike">
                          <a:solidFill>
                            <a:srgbClr val="000000"/>
                          </a:solidFill>
                          <a:effectLst/>
                          <a:latin typeface="Meiryo UI" panose="020B0604030504040204" pitchFamily="50" charset="-128"/>
                          <a:ea typeface="Meiryo UI" panose="020B0604030504040204" pitchFamily="50" charset="-128"/>
                        </a:rPr>
                        <a:t>状態が遷移した後に実行される処理（メソッド名）</a:t>
                      </a:r>
                    </a:p>
                  </a:txBody>
                  <a:tcPr marL="7793" marR="7793" marT="77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3180638"/>
                  </a:ext>
                </a:extLst>
              </a:tr>
            </a:tbl>
          </a:graphicData>
        </a:graphic>
      </p:graphicFrame>
    </p:spTree>
    <p:extLst>
      <p:ext uri="{BB962C8B-B14F-4D97-AF65-F5344CB8AC3E}">
        <p14:creationId xmlns:p14="http://schemas.microsoft.com/office/powerpoint/2010/main" val="167053520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1638</Words>
  <Application>Microsoft Office PowerPoint</Application>
  <PresentationFormat>ワイド画面</PresentationFormat>
  <Paragraphs>245</Paragraphs>
  <Slides>5</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5</vt:i4>
      </vt:variant>
    </vt:vector>
  </HeadingPairs>
  <TitlesOfParts>
    <vt:vector size="12" baseType="lpstr">
      <vt:lpstr>BIZ UDゴシック</vt:lpstr>
      <vt:lpstr>Meiryo UI</vt:lpstr>
      <vt:lpstr>游ゴシック</vt:lpstr>
      <vt:lpstr>Aptos</vt:lpstr>
      <vt:lpstr>Aptos Display</vt:lpstr>
      <vt:lpstr>Arial</vt:lpstr>
      <vt:lpstr>Office テーマ</vt:lpstr>
      <vt:lpstr>Github-python libraly seach</vt:lpstr>
      <vt:lpstr>PowerPoint プレゼンテーション</vt:lpstr>
      <vt:lpstr>使用ライブラリとカスタマイズ</vt:lpstr>
      <vt:lpstr>PowerPoint プレゼンテーション</vt:lpstr>
      <vt:lpstr>transitionsライブラリ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 Y</dc:creator>
  <cp:lastModifiedBy>K Y</cp:lastModifiedBy>
  <cp:revision>20</cp:revision>
  <dcterms:created xsi:type="dcterms:W3CDTF">2012-07-27T23:28:17Z</dcterms:created>
  <dcterms:modified xsi:type="dcterms:W3CDTF">2025-10-20T07:31:28Z</dcterms:modified>
</cp:coreProperties>
</file>