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"/>
  </p:notesMasterIdLst>
  <p:sldIdLst>
    <p:sldId id="258" r:id="rId2"/>
    <p:sldId id="259" r:id="rId3"/>
    <p:sldId id="267" r:id="rId4"/>
    <p:sldId id="268" r:id="rId5"/>
    <p:sldId id="269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962EE-CD8D-4B91-A3DD-4C699082EA73}" type="datetimeFigureOut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FA7D8-649E-4267-B317-F9A8624761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381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32E0-C2E8-4242-AC1F-A409A214FAD9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A2533-61B8-4130-8AE8-C0E953C2863F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37F75-6A8A-44B6-81A0-F01AE9A15952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2D1-488E-400C-A3B7-12316802EE0E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AF897-2775-4370-811C-D54EFC08864D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3451"/>
          </a:xfrm>
        </p:spPr>
        <p:txBody>
          <a:bodyPr>
            <a:normAutofit/>
          </a:bodyPr>
          <a:lstStyle>
            <a:lvl1pPr>
              <a:defRPr sz="2800" baseline="0">
                <a:latin typeface="Arial" panose="020B0604020202020204" pitchFamily="34" charset="0"/>
                <a:ea typeface="BIZ UDゴシック" panose="020B0400000000000000" pitchFamily="49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FDD99-561F-41AB-B3A7-0EEEF5779D1E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98230-AF5F-4371-A15E-14F7D666A1E9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F381F-BD65-4948-8AA9-32B16F2D5C98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513CA-C190-486F-BD2A-798F90F2F896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877CE-4617-4C8C-B4B4-4A6BFB6210D6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C360C-7E95-41B1-9894-D5B08D2C9336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167B46-2EB4-4DB4-9CDA-53249C7AEAAE}" type="datetime1">
              <a:rPr kumimoji="1" lang="ja-JP" altLang="en-US" smtClean="0"/>
              <a:t>2025/10/23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DEE70D-6CE1-4419-F5AB-2B5565D70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>
                <a:ea typeface="+mj-lt"/>
                <a:cs typeface="+mj-lt"/>
              </a:rPr>
              <a:t>バッテリーパックの温度制御仕様</a:t>
            </a:r>
            <a:r>
              <a:rPr lang="ja-JP" altLang="en-US">
                <a:ea typeface="+mj-lt"/>
                <a:cs typeface="+mj-lt"/>
              </a:rPr>
              <a:t>（演習）</a:t>
            </a:r>
            <a:endParaRPr lang="ja-JP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5B6D274-A95C-F322-B318-8BBE3624B729}"/>
              </a:ext>
            </a:extLst>
          </p:cNvPr>
          <p:cNvSpPr txBox="1"/>
          <p:nvPr/>
        </p:nvSpPr>
        <p:spPr>
          <a:xfrm>
            <a:off x="921600" y="1527148"/>
            <a:ext cx="83359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目的：バッテリーパックの温度を安全かつ効率的に制御し、充電最適温度に誘導する</a:t>
            </a:r>
            <a:endParaRPr kumimoji="1" lang="en-US" altLang="ja-JP"/>
          </a:p>
          <a:p>
            <a:r>
              <a:rPr kumimoji="1" lang="ja-JP" altLang="en-US"/>
              <a:t>対象：バッテリーパック（複数セル構成）</a:t>
            </a:r>
          </a:p>
          <a:p>
            <a:r>
              <a:rPr kumimoji="1" lang="ja-JP" altLang="en-US"/>
              <a:t>制御方式：状態遷移＋パラメトリック制御（温度変化量に応じた制御）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86B3F0-BDD3-1A02-56C8-D06D834A312E}"/>
              </a:ext>
            </a:extLst>
          </p:cNvPr>
          <p:cNvSpPr txBox="1"/>
          <p:nvPr/>
        </p:nvSpPr>
        <p:spPr>
          <a:xfrm>
            <a:off x="921600" y="967223"/>
            <a:ext cx="2853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演習用に仮の仕様を考える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73A64C-B7A4-2178-4D34-784BD2C162E6}"/>
              </a:ext>
            </a:extLst>
          </p:cNvPr>
          <p:cNvSpPr txBox="1"/>
          <p:nvPr/>
        </p:nvSpPr>
        <p:spPr>
          <a:xfrm>
            <a:off x="756027" y="2748687"/>
            <a:ext cx="105977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CAN</a:t>
            </a:r>
            <a:r>
              <a:rPr kumimoji="1" lang="ja-JP" altLang="en-US"/>
              <a:t>から取得したバッテリ温度を監視して、その温度に従ってバッテリ温度を変化させる制御を行います</a:t>
            </a:r>
            <a:r>
              <a:rPr lang="ja-JP" altLang="en-US"/>
              <a:t>。</a:t>
            </a:r>
            <a:endParaRPr lang="en-US" altLang="ja-JP"/>
          </a:p>
          <a:p>
            <a:r>
              <a:rPr kumimoji="1" lang="ja-JP" altLang="en-US"/>
              <a:t>ただし、セル温度が閾値を超えた場合には冷却させる方向に進めます。</a:t>
            </a:r>
            <a:endParaRPr kumimoji="1" lang="en-US" altLang="ja-JP"/>
          </a:p>
          <a:p>
            <a:r>
              <a:rPr kumimoji="1" lang="ja-JP" altLang="en-US"/>
              <a:t>冷却も上昇もすぐに変化させず、目的温度まで一定の時間を使って遷移させます。 </a:t>
            </a:r>
            <a:endParaRPr kumimoji="1" lang="en-US" altLang="ja-JP"/>
          </a:p>
          <a:p>
            <a:r>
              <a:rPr kumimoji="1" lang="ja-JP" altLang="en-US"/>
              <a:t>目的温度に達したら通常監視モードに繊維します。 まずはこれだけで、次のステップで異常処理を考えます。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A4DFDA-7412-555F-CDE3-7D84E38A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984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2B0761-9678-5D8E-F7EF-884AACB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UML</a:t>
            </a:r>
            <a:r>
              <a:rPr lang="ja-JP" altLang="en-US"/>
              <a:t>状態遷移図（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658D565-D455-7F00-15C9-528359E41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581969"/>
              </p:ext>
            </p:extLst>
          </p:nvPr>
        </p:nvGraphicFramePr>
        <p:xfrm>
          <a:off x="7978021" y="1174982"/>
          <a:ext cx="3561310" cy="19564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623288">
                  <a:extLst>
                    <a:ext uri="{9D8B030D-6E8A-4147-A177-3AD203B41FA5}">
                      <a16:colId xmlns:a16="http://schemas.microsoft.com/office/drawing/2014/main" val="293804515"/>
                    </a:ext>
                  </a:extLst>
                </a:gridCol>
                <a:gridCol w="1100881">
                  <a:extLst>
                    <a:ext uri="{9D8B030D-6E8A-4147-A177-3AD203B41FA5}">
                      <a16:colId xmlns:a16="http://schemas.microsoft.com/office/drawing/2014/main" val="1492560074"/>
                    </a:ext>
                  </a:extLst>
                </a:gridCol>
                <a:gridCol w="1837141">
                  <a:extLst>
                    <a:ext uri="{9D8B030D-6E8A-4147-A177-3AD203B41FA5}">
                      <a16:colId xmlns:a16="http://schemas.microsoft.com/office/drawing/2014/main" val="1518261795"/>
                    </a:ext>
                  </a:extLst>
                </a:gridCol>
              </a:tblGrid>
              <a:tr h="94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b="1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  <a:endParaRPr lang="ja-JP" altLang="en-US" sz="1100" b="1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25363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（初期動作）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INIT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20146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通常監視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327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STATE_HIGH_TEMP_CTRL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026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STATE_LOW_TEMP_CTRL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391092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最適充電誘導</a:t>
                      </a:r>
                      <a:endParaRPr lang="zh-TW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STATE_CHARGE_GUIDE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8404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異常警告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STATE_SAFE_ALART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8067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安全停止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STATE_SAFE_STOP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6621162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38DC1517-518E-02B5-CC15-C5CCF914F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05" y="805434"/>
            <a:ext cx="6238000" cy="3456612"/>
          </a:xfrm>
          <a:prstGeom prst="rect">
            <a:avLst/>
          </a:prstGeom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1813B1D6-7047-4ABA-FAB3-115D504C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984987"/>
              </p:ext>
            </p:extLst>
          </p:nvPr>
        </p:nvGraphicFramePr>
        <p:xfrm>
          <a:off x="3816626" y="4084497"/>
          <a:ext cx="7957746" cy="2506602"/>
        </p:xfrm>
        <a:graphic>
          <a:graphicData uri="http://schemas.openxmlformats.org/drawingml/2006/table">
            <a:tbl>
              <a:tblPr/>
              <a:tblGrid>
                <a:gridCol w="826646">
                  <a:extLst>
                    <a:ext uri="{9D8B030D-6E8A-4147-A177-3AD203B41FA5}">
                      <a16:colId xmlns:a16="http://schemas.microsoft.com/office/drawing/2014/main" val="4290680726"/>
                    </a:ext>
                  </a:extLst>
                </a:gridCol>
                <a:gridCol w="923471">
                  <a:extLst>
                    <a:ext uri="{9D8B030D-6E8A-4147-A177-3AD203B41FA5}">
                      <a16:colId xmlns:a16="http://schemas.microsoft.com/office/drawing/2014/main" val="1573855749"/>
                    </a:ext>
                  </a:extLst>
                </a:gridCol>
                <a:gridCol w="2801412">
                  <a:extLst>
                    <a:ext uri="{9D8B030D-6E8A-4147-A177-3AD203B41FA5}">
                      <a16:colId xmlns:a16="http://schemas.microsoft.com/office/drawing/2014/main" val="830740857"/>
                    </a:ext>
                  </a:extLst>
                </a:gridCol>
                <a:gridCol w="2709563">
                  <a:extLst>
                    <a:ext uri="{9D8B030D-6E8A-4147-A177-3AD203B41FA5}">
                      <a16:colId xmlns:a16="http://schemas.microsoft.com/office/drawing/2014/main" val="1433760504"/>
                    </a:ext>
                  </a:extLst>
                </a:gridCol>
                <a:gridCol w="696654">
                  <a:extLst>
                    <a:ext uri="{9D8B030D-6E8A-4147-A177-3AD203B41FA5}">
                      <a16:colId xmlns:a16="http://schemas.microsoft.com/office/drawing/2014/main" val="1999121049"/>
                    </a:ext>
                  </a:extLst>
                </a:gridCol>
              </a:tblGrid>
              <a:tr h="1977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EventNo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FromTo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遷移条件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Do (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動作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5774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起動時処理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情報の初期化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6421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温度変化量に従って加熱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/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644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加熱制御（ヒーター）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9149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冷却制御（ファン・冷却材）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7891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38595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68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0140678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015958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1128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警告出力条件解除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8936559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セル温度＞停止温度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452185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センサ異常停止条件成立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6642199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BE279E-A868-AED5-3B6C-1563207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4039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2F7B4B-5016-6084-64EB-4ABC15493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DFD</a:t>
            </a:r>
            <a:r>
              <a:rPr lang="ja-JP" altLang="en-US"/>
              <a:t>（データフローダイアグラム）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A307C09-CC52-D946-4FF0-52304AE7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5549"/>
            <a:ext cx="7411278" cy="537486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455AA1-C83A-F674-015A-7D87C2401746}"/>
              </a:ext>
            </a:extLst>
          </p:cNvPr>
          <p:cNvSpPr txBox="1"/>
          <p:nvPr/>
        </p:nvSpPr>
        <p:spPr>
          <a:xfrm>
            <a:off x="8634244" y="986881"/>
            <a:ext cx="29717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battery_temp_control_dfd_level0.drawio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713B52-9E37-4A24-2068-B21D9F174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640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80C15-9A64-6F60-EABA-9325B14A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使用ライブラリ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BE054EF-65C3-08B9-FB0E-AFE674C1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4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DB4555DD-1E44-3AD8-01B2-04F77AD02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264177"/>
              </p:ext>
            </p:extLst>
          </p:nvPr>
        </p:nvGraphicFramePr>
        <p:xfrm>
          <a:off x="673768" y="1101733"/>
          <a:ext cx="9423133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088193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380962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simple-pid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温度管理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PID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DFD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（データフローダイアグラム）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transitions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UML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状態遷移図（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 Machine Diagram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219CE7D-5F9D-B9DE-AA1F-6266F40F8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716619"/>
              </p:ext>
            </p:extLst>
          </p:nvPr>
        </p:nvGraphicFramePr>
        <p:xfrm>
          <a:off x="673768" y="3429000"/>
          <a:ext cx="10187926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844000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656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087884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  <a:gridCol w="2764042">
                  <a:extLst>
                    <a:ext uri="{9D8B030D-6E8A-4147-A177-3AD203B41FA5}">
                      <a16:colId xmlns:a16="http://schemas.microsoft.com/office/drawing/2014/main" val="27878585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戻り値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引数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1"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BatteryTemperatureControl .py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バッテリ温度制御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param:temperature_params.py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main.py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メイン制御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なし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B894B55-F6E2-E309-9D7E-14D06D7DD178}"/>
              </a:ext>
            </a:extLst>
          </p:cNvPr>
          <p:cNvSpPr txBox="1"/>
          <p:nvPr/>
        </p:nvSpPr>
        <p:spPr>
          <a:xfrm>
            <a:off x="363836" y="3048961"/>
            <a:ext cx="325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バッテリ温度制御モジュール</a:t>
            </a:r>
          </a:p>
        </p:txBody>
      </p:sp>
    </p:spTree>
    <p:extLst>
      <p:ext uri="{BB962C8B-B14F-4D97-AF65-F5344CB8AC3E}">
        <p14:creationId xmlns:p14="http://schemas.microsoft.com/office/powerpoint/2010/main" val="880899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6FAFBA-C184-155C-795E-6E2E78F6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/>
              <a:t>method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134482A-A0E1-241D-F93C-C26AA4D97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5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C41E811-3044-1E4D-5DA8-369066B6F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041875"/>
              </p:ext>
            </p:extLst>
          </p:nvPr>
        </p:nvGraphicFramePr>
        <p:xfrm>
          <a:off x="616226" y="1101733"/>
          <a:ext cx="10796335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628000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2295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1142775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  <a:gridCol w="3348000">
                  <a:extLst>
                    <a:ext uri="{9D8B030D-6E8A-4147-A177-3AD203B41FA5}">
                      <a16:colId xmlns:a16="http://schemas.microsoft.com/office/drawing/2014/main" val="1960738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戻り値型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意味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handle_high_temp_state()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 に移るべきか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高温閾値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handle_low_temp_state()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S3:</a:t>
                      </a:r>
                      <a:r>
                        <a:rPr kumimoji="1" lang="ja-JP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低温制御 に移るべきか</a:t>
                      </a:r>
                      <a:endParaRPr kumimoji="1" lang="en-US" altLang="ja-JP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入力温度＜低温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閾値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</a:rPr>
                        <a:t>handle_charge_guide_state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S1:</a:t>
                      </a:r>
                      <a:r>
                        <a:rPr kumimoji="1" lang="ja-JP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通常監視 に戻るべきか</a:t>
                      </a:r>
                      <a:endParaRPr kumimoji="1" lang="en-US" altLang="ja-JP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=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±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範囲内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handle_alert_state()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警告表示に移るべきか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Bool</a:t>
                      </a:r>
                      <a:endParaRPr kumimoji="1" lang="ja-JP" altLang="en-US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handle_error_state()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エラー停止に移るべきか</a:t>
                      </a: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Bool</a:t>
                      </a:r>
                      <a:endParaRPr kumimoji="1" lang="ja-JP" altLang="en-US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349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2071</TotalTime>
  <Words>591</Words>
  <Application>Microsoft Office PowerPoint</Application>
  <PresentationFormat>ワイド画面</PresentationFormat>
  <Paragraphs>160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UDゴシック</vt:lpstr>
      <vt:lpstr>游ゴシック</vt:lpstr>
      <vt:lpstr>Aptos</vt:lpstr>
      <vt:lpstr>Aptos Display</vt:lpstr>
      <vt:lpstr>Arial</vt:lpstr>
      <vt:lpstr>Office テーマ</vt:lpstr>
      <vt:lpstr>バッテリーパックの温度制御仕様（演習）</vt:lpstr>
      <vt:lpstr>UML状態遷移図（State Machine Diagram）</vt:lpstr>
      <vt:lpstr>DFD（データフローダイアグラム）</vt:lpstr>
      <vt:lpstr>使用ライブラリ</vt:lpstr>
      <vt:lpstr>method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 Y</dc:creator>
  <cp:lastModifiedBy>K Y</cp:lastModifiedBy>
  <cp:revision>41</cp:revision>
  <dcterms:created xsi:type="dcterms:W3CDTF">2012-07-27T23:28:17Z</dcterms:created>
  <dcterms:modified xsi:type="dcterms:W3CDTF">2025-10-23T08:39:01Z</dcterms:modified>
</cp:coreProperties>
</file>