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8" r:id="rId2"/>
    <p:sldId id="259" r:id="rId3"/>
    <p:sldId id="262" r:id="rId4"/>
    <p:sldId id="267" r:id="rId5"/>
    <p:sldId id="263" r:id="rId6"/>
    <p:sldId id="268" r:id="rId7"/>
    <p:sldId id="269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淡色スタイル 3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962EE-CD8D-4B91-A3DD-4C699082EA73}" type="datetimeFigureOut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FA7D8-649E-4267-B317-F9A8624761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4381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F32E0-C2E8-4242-AC1F-A409A214FAD9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A2533-61B8-4130-8AE8-C0E953C2863F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37F75-6A8A-44B6-81A0-F01AE9A15952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92D1-488E-400C-A3B7-12316802EE0E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AF897-2775-4370-811C-D54EFC08864D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3451"/>
          </a:xfrm>
        </p:spPr>
        <p:txBody>
          <a:bodyPr>
            <a:normAutofit/>
          </a:bodyPr>
          <a:lstStyle>
            <a:lvl1pPr>
              <a:defRPr sz="2800" baseline="0">
                <a:latin typeface="Arial" panose="020B0604020202020204" pitchFamily="34" charset="0"/>
                <a:ea typeface="BIZ UDゴシック" panose="020B0400000000000000" pitchFamily="49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DD99-561F-41AB-B3A7-0EEEF5779D1E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98230-AF5F-4371-A15E-14F7D666A1E9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F381F-BD65-4948-8AA9-32B16F2D5C98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513CA-C190-486F-BD2A-798F90F2F896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877CE-4617-4C8C-B4B4-4A6BFB6210D6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C360C-7E95-41B1-9894-D5B08D2C9336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167B46-2EB4-4DB4-9CDA-53249C7AEAAE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DEE70D-6CE1-4419-F5AB-2B5565D70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>
                <a:ea typeface="+mj-lt"/>
                <a:cs typeface="+mj-lt"/>
              </a:rPr>
              <a:t>バッテリーパックの温度制御仕様</a:t>
            </a:r>
            <a:r>
              <a:rPr lang="ja-JP" altLang="en-US">
                <a:ea typeface="+mj-lt"/>
                <a:cs typeface="+mj-lt"/>
              </a:rPr>
              <a:t>（演習）</a:t>
            </a:r>
            <a:endParaRPr lang="ja-JP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5B6D274-A95C-F322-B318-8BBE3624B729}"/>
              </a:ext>
            </a:extLst>
          </p:cNvPr>
          <p:cNvSpPr txBox="1"/>
          <p:nvPr/>
        </p:nvSpPr>
        <p:spPr>
          <a:xfrm>
            <a:off x="921600" y="1527148"/>
            <a:ext cx="83359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目的：バッテリーパックの温度を安全かつ効率的に制御し、充電最適温度に誘導する</a:t>
            </a:r>
            <a:endParaRPr kumimoji="1" lang="en-US" altLang="ja-JP"/>
          </a:p>
          <a:p>
            <a:r>
              <a:rPr kumimoji="1" lang="ja-JP" altLang="en-US"/>
              <a:t>対象：バッテリーパック（複数セル構成）</a:t>
            </a:r>
          </a:p>
          <a:p>
            <a:r>
              <a:rPr kumimoji="1" lang="ja-JP" altLang="en-US"/>
              <a:t>制御方式：状態遷移＋パラメトリック制御（温度変化量に応じた制御）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986B3F0-BDD3-1A02-56C8-D06D834A312E}"/>
              </a:ext>
            </a:extLst>
          </p:cNvPr>
          <p:cNvSpPr txBox="1"/>
          <p:nvPr/>
        </p:nvSpPr>
        <p:spPr>
          <a:xfrm>
            <a:off x="921600" y="967223"/>
            <a:ext cx="2853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演習用に仮の仕様を考える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973A64C-B7A4-2178-4D34-784BD2C162E6}"/>
              </a:ext>
            </a:extLst>
          </p:cNvPr>
          <p:cNvSpPr txBox="1"/>
          <p:nvPr/>
        </p:nvSpPr>
        <p:spPr>
          <a:xfrm>
            <a:off x="756027" y="2748687"/>
            <a:ext cx="105977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CAN</a:t>
            </a:r>
            <a:r>
              <a:rPr kumimoji="1" lang="ja-JP" altLang="en-US"/>
              <a:t>から取得したバッテリ温度を監視して、その温度に従ってバッテリ温度を変化させる制御を行います</a:t>
            </a:r>
            <a:r>
              <a:rPr lang="ja-JP" altLang="en-US"/>
              <a:t>。</a:t>
            </a:r>
            <a:endParaRPr lang="en-US" altLang="ja-JP"/>
          </a:p>
          <a:p>
            <a:r>
              <a:rPr kumimoji="1" lang="ja-JP" altLang="en-US"/>
              <a:t>ただし、セル温度が閾値を超えた場合には冷却させる方向に進めます。</a:t>
            </a:r>
            <a:endParaRPr kumimoji="1" lang="en-US" altLang="ja-JP"/>
          </a:p>
          <a:p>
            <a:r>
              <a:rPr kumimoji="1" lang="ja-JP" altLang="en-US"/>
              <a:t>冷却も上昇もすぐに変化させず、目的温度まで一定の時間を使って遷移させます。 </a:t>
            </a:r>
            <a:endParaRPr kumimoji="1" lang="en-US" altLang="ja-JP"/>
          </a:p>
          <a:p>
            <a:r>
              <a:rPr kumimoji="1" lang="ja-JP" altLang="en-US"/>
              <a:t>目的温度に達したら通常監視モードに繊維します。 まずはこれだけで、次のステップで異常処理を考えます。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BA4DFDA-7412-555F-CDE3-7D84E38A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5984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2B0761-9678-5D8E-F7EF-884AACB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/>
              <a:t>UML</a:t>
            </a:r>
            <a:r>
              <a:rPr lang="ja-JP" altLang="en-US"/>
              <a:t>状態遷移図（</a:t>
            </a:r>
            <a:r>
              <a:rPr lang="en-US" altLang="ja-JP"/>
              <a:t>State Machine Diagram</a:t>
            </a:r>
            <a:r>
              <a:rPr lang="ja-JP" altLang="en-US"/>
              <a:t>）</a:t>
            </a:r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2658D565-D455-7F00-15C9-528359E41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066856"/>
              </p:ext>
            </p:extLst>
          </p:nvPr>
        </p:nvGraphicFramePr>
        <p:xfrm>
          <a:off x="7978021" y="1174982"/>
          <a:ext cx="3561310" cy="1956405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623288">
                  <a:extLst>
                    <a:ext uri="{9D8B030D-6E8A-4147-A177-3AD203B41FA5}">
                      <a16:colId xmlns:a16="http://schemas.microsoft.com/office/drawing/2014/main" val="293804515"/>
                    </a:ext>
                  </a:extLst>
                </a:gridCol>
                <a:gridCol w="1100881">
                  <a:extLst>
                    <a:ext uri="{9D8B030D-6E8A-4147-A177-3AD203B41FA5}">
                      <a16:colId xmlns:a16="http://schemas.microsoft.com/office/drawing/2014/main" val="1492560074"/>
                    </a:ext>
                  </a:extLst>
                </a:gridCol>
                <a:gridCol w="1837141">
                  <a:extLst>
                    <a:ext uri="{9D8B030D-6E8A-4147-A177-3AD203B41FA5}">
                      <a16:colId xmlns:a16="http://schemas.microsoft.com/office/drawing/2014/main" val="1518261795"/>
                    </a:ext>
                  </a:extLst>
                </a:gridCol>
              </a:tblGrid>
              <a:tr h="942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State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100" b="1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状態</a:t>
                      </a:r>
                      <a:endParaRPr lang="ja-JP" altLang="en-US" sz="1100" b="1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名称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125363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582613" fontAlgn="ctr">
                        <a:buNone/>
                        <a:tabLst>
                          <a:tab pos="1792288" algn="l"/>
                        </a:tabLst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（初期動作）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STATE_NORMAL_MONITOR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20146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582613" fontAlgn="ctr">
                        <a:buNone/>
                        <a:tabLst>
                          <a:tab pos="1792288" algn="l"/>
                        </a:tabLst>
                      </a:pPr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通常監視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STATE_NORMAL_MONITOR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32723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高温制御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STATE_HIGH_TEMP_CTRL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0260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低温制御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STATE_LOW_TEMP_CTRL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391092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最適充電誘導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STATE_CHARGE_GUIDE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404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異常警告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STATE_SAFE_ALART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98067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安全停止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STATE_SAFE_STOP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6621162"/>
                  </a:ext>
                </a:extLst>
              </a:tr>
            </a:tbl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38DC1517-518E-02B5-CC15-C5CCF914F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05" y="805434"/>
            <a:ext cx="6238000" cy="3456612"/>
          </a:xfrm>
          <a:prstGeom prst="rect">
            <a:avLst/>
          </a:prstGeom>
        </p:spPr>
      </p:pic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1813B1D6-7047-4ABA-FAB3-115D504CF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984987"/>
              </p:ext>
            </p:extLst>
          </p:nvPr>
        </p:nvGraphicFramePr>
        <p:xfrm>
          <a:off x="3816626" y="4084497"/>
          <a:ext cx="7957746" cy="2506602"/>
        </p:xfrm>
        <a:graphic>
          <a:graphicData uri="http://schemas.openxmlformats.org/drawingml/2006/table">
            <a:tbl>
              <a:tblPr/>
              <a:tblGrid>
                <a:gridCol w="826646">
                  <a:extLst>
                    <a:ext uri="{9D8B030D-6E8A-4147-A177-3AD203B41FA5}">
                      <a16:colId xmlns:a16="http://schemas.microsoft.com/office/drawing/2014/main" val="4290680726"/>
                    </a:ext>
                  </a:extLst>
                </a:gridCol>
                <a:gridCol w="923471">
                  <a:extLst>
                    <a:ext uri="{9D8B030D-6E8A-4147-A177-3AD203B41FA5}">
                      <a16:colId xmlns:a16="http://schemas.microsoft.com/office/drawing/2014/main" val="1573855749"/>
                    </a:ext>
                  </a:extLst>
                </a:gridCol>
                <a:gridCol w="2801412">
                  <a:extLst>
                    <a:ext uri="{9D8B030D-6E8A-4147-A177-3AD203B41FA5}">
                      <a16:colId xmlns:a16="http://schemas.microsoft.com/office/drawing/2014/main" val="830740857"/>
                    </a:ext>
                  </a:extLst>
                </a:gridCol>
                <a:gridCol w="2709563">
                  <a:extLst>
                    <a:ext uri="{9D8B030D-6E8A-4147-A177-3AD203B41FA5}">
                      <a16:colId xmlns:a16="http://schemas.microsoft.com/office/drawing/2014/main" val="1433760504"/>
                    </a:ext>
                  </a:extLst>
                </a:gridCol>
                <a:gridCol w="696654">
                  <a:extLst>
                    <a:ext uri="{9D8B030D-6E8A-4147-A177-3AD203B41FA5}">
                      <a16:colId xmlns:a16="http://schemas.microsoft.com/office/drawing/2014/main" val="1999121049"/>
                    </a:ext>
                  </a:extLst>
                </a:gridCol>
              </a:tblGrid>
              <a:tr h="1977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EventNo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FromTo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遷移条件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Do (</a:t>
                      </a: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動作</a:t>
                      </a:r>
                      <a:r>
                        <a:rPr lang="en-US" altLang="ja-JP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5774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E1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S0 → S1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起動時処理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情報の初期化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　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6421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E2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S1 → S4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最適充電温度</a:t>
                      </a:r>
                      <a:r>
                        <a:rPr lang="en-US" altLang="ja-JP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&lt;&gt;</a:t>
                      </a: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現在温度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温度変化量に従って加熱</a:t>
                      </a:r>
                      <a:r>
                        <a:rPr lang="en-US" altLang="ja-JP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/</a:t>
                      </a: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冷却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　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6444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E3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S1 → S3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現在温度 </a:t>
                      </a:r>
                      <a:r>
                        <a:rPr lang="en-US" altLang="ja-JP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&lt; </a:t>
                      </a: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低温閾値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加熱制御（ヒーター）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　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9149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E4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S1 → S2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現在温度 </a:t>
                      </a:r>
                      <a:r>
                        <a:rPr lang="en-US" altLang="ja-JP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&gt; </a:t>
                      </a: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高温閾値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冷却制御（ファン・冷却材）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　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8919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E5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S4 → S1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温度制御処理実施完了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温度制御処理実施開始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　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3859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E6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S3 → S1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加熱制御処理実施完了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加熱制御処理実施開始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　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682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E7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S2 → S1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冷却制御処理実施完了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冷却制御処理実施開始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　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140678"/>
                  </a:ext>
                </a:extLst>
              </a:tr>
              <a:tr h="1905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E8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→S5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停止温度</a:t>
                      </a:r>
                      <a:r>
                        <a:rPr lang="en-US" altLang="ja-JP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&gt;</a:t>
                      </a: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セル温度＞</a:t>
                      </a: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高温警報出力閾値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警告出力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予約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015958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→S5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停止温度</a:t>
                      </a:r>
                      <a:r>
                        <a:rPr lang="en-US" altLang="ja-JP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&gt;</a:t>
                      </a: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セル温度＞</a:t>
                      </a: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低温警報出力閾値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警告出力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　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1128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E9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ja-JP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S5 → S1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警告出力条件解除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警告解除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予約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936559"/>
                  </a:ext>
                </a:extLst>
              </a:tr>
              <a:tr h="1905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E10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→S6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セル温度＞停止温度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充電停止・警告出力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　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452185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→S6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センサ異常停止条件成立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充電停止・警告出力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予約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642199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4BE279E-A868-AED5-3B6C-15632079C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4039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4B0A6D-8774-4559-FC13-E4B5D742E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参考：</a:t>
            </a:r>
            <a:r>
              <a:rPr lang="en-US" altLang="ja-JP"/>
              <a:t>UML</a:t>
            </a:r>
            <a:r>
              <a:rPr lang="ja-JP" altLang="en-US"/>
              <a:t>状態遷移図テンプレート（</a:t>
            </a:r>
            <a:r>
              <a:rPr lang="en-US" altLang="ja-JP"/>
              <a:t>State Machine Diagram</a:t>
            </a:r>
            <a:r>
              <a:rPr lang="ja-JP" altLang="en-US"/>
              <a:t>）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4637583-D507-7DE8-8E89-823B1E6D20B7}"/>
              </a:ext>
            </a:extLst>
          </p:cNvPr>
          <p:cNvSpPr txBox="1"/>
          <p:nvPr/>
        </p:nvSpPr>
        <p:spPr>
          <a:xfrm>
            <a:off x="737007" y="1609344"/>
            <a:ext cx="2130551" cy="35086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ja-JP" altLang="en-US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状態（</a:t>
            </a:r>
            <a:r>
              <a:rPr lang="en-US" altLang="ja-JP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State</a:t>
            </a:r>
            <a:r>
              <a:rPr lang="ja-JP" altLang="en-US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）ノード：</a:t>
            </a:r>
            <a:endParaRPr lang="en-US" altLang="ja-JP" sz="1200">
              <a:solidFill>
                <a:schemeClr val="accent6">
                  <a:lumMod val="75000"/>
                </a:schemeClr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[Normal Monitoring]</a:t>
            </a:r>
          </a:p>
          <a:p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↓ </a:t>
            </a:r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温度 </a:t>
            </a:r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&gt; </a:t>
            </a:r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高温閾値</a:t>
            </a:r>
          </a:p>
          <a:p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[High Temp Control]</a:t>
            </a:r>
          </a:p>
          <a:p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↓ </a:t>
            </a:r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温度が範囲内</a:t>
            </a:r>
          </a:p>
          <a:p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[Normal Monitoring]</a:t>
            </a:r>
          </a:p>
          <a:p>
            <a:endParaRPr lang="en-US" altLang="ja-JP" sz="100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[Normal Monitoring]</a:t>
            </a:r>
          </a:p>
          <a:p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↓ </a:t>
            </a:r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温度 </a:t>
            </a:r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&lt; </a:t>
            </a:r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低温閾値</a:t>
            </a:r>
          </a:p>
          <a:p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[Low Temp Control]</a:t>
            </a:r>
          </a:p>
          <a:p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↓ </a:t>
            </a:r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温度が範囲内</a:t>
            </a:r>
          </a:p>
          <a:p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[Normal Monitoring]</a:t>
            </a:r>
          </a:p>
          <a:p>
            <a:endParaRPr lang="en-US" altLang="ja-JP" sz="100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[Normal Monitoring]</a:t>
            </a:r>
          </a:p>
          <a:p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↓ </a:t>
            </a:r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目標温度 ≠ 現在温度</a:t>
            </a:r>
          </a:p>
          <a:p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[Optimal Charge Guidance]</a:t>
            </a:r>
          </a:p>
          <a:p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↓ </a:t>
            </a:r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現在温度 ≒ 目標温度</a:t>
            </a:r>
          </a:p>
          <a:p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[Normal Monitoring]</a:t>
            </a:r>
          </a:p>
          <a:p>
            <a:endParaRPr lang="en-US" altLang="ja-JP" sz="100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[</a:t>
            </a:r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任意の状態</a:t>
            </a:r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]</a:t>
            </a:r>
          </a:p>
          <a:p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↓ </a:t>
            </a:r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セル異常 </a:t>
            </a:r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or </a:t>
            </a:r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センサ異常</a:t>
            </a:r>
          </a:p>
          <a:p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[Safe Stop]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B7B16BE-E5E1-AA12-D825-2F8DAA6FCD5B}"/>
              </a:ext>
            </a:extLst>
          </p:cNvPr>
          <p:cNvSpPr txBox="1"/>
          <p:nvPr/>
        </p:nvSpPr>
        <p:spPr>
          <a:xfrm>
            <a:off x="554124" y="1259693"/>
            <a:ext cx="15892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b="1">
                <a:solidFill>
                  <a:srgbClr val="0070C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【</a:t>
            </a:r>
            <a:r>
              <a:rPr kumimoji="1" lang="zh-TW" altLang="en-US" sz="1200" b="1">
                <a:solidFill>
                  <a:srgbClr val="0070C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基本構成要素</a:t>
            </a:r>
            <a:r>
              <a:rPr kumimoji="1" lang="en-US" altLang="zh-TW" sz="1200" b="1">
                <a:solidFill>
                  <a:srgbClr val="0070C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】</a:t>
            </a:r>
            <a:endParaRPr kumimoji="1" lang="ja-JP" altLang="en-US" sz="1200" b="1">
              <a:solidFill>
                <a:srgbClr val="0070C0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C995E3E-BD68-D19E-5140-02BA1D602CAB}"/>
              </a:ext>
            </a:extLst>
          </p:cNvPr>
          <p:cNvSpPr txBox="1"/>
          <p:nvPr/>
        </p:nvSpPr>
        <p:spPr>
          <a:xfrm>
            <a:off x="3388462" y="1567286"/>
            <a:ext cx="452262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【</a:t>
            </a:r>
            <a:r>
              <a:rPr lang="ja-JP" altLang="en-US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推奨</a:t>
            </a:r>
            <a:r>
              <a:rPr lang="en-US" altLang="ja-JP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Draw.io</a:t>
            </a:r>
            <a:r>
              <a:rPr lang="ja-JP" altLang="en-US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構成</a:t>
            </a:r>
            <a:r>
              <a:rPr lang="en-US" altLang="ja-JP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】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339A4601-D726-1A7D-ED34-E9FE92169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127466"/>
              </p:ext>
            </p:extLst>
          </p:nvPr>
        </p:nvGraphicFramePr>
        <p:xfrm>
          <a:off x="3388462" y="1900630"/>
          <a:ext cx="5635205" cy="146304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919205">
                  <a:extLst>
                    <a:ext uri="{9D8B030D-6E8A-4147-A177-3AD203B41FA5}">
                      <a16:colId xmlns:a16="http://schemas.microsoft.com/office/drawing/2014/main" val="6935548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3837817976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184599737"/>
                    </a:ext>
                  </a:extLst>
                </a:gridCol>
                <a:gridCol w="2412000">
                  <a:extLst>
                    <a:ext uri="{9D8B030D-6E8A-4147-A177-3AD203B41FA5}">
                      <a16:colId xmlns:a16="http://schemas.microsoft.com/office/drawing/2014/main" val="754341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要素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図形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色（推奨）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備考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055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状態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長方形（角丸）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淡い</a:t>
                      </a:r>
                      <a:r>
                        <a:rPr lang="en-US" altLang="ja-JP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(#</a:t>
                      </a: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cce5ff)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各</a:t>
                      </a: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State</a:t>
                      </a: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ノード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76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開始ノード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Start</a:t>
                      </a: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808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終了ノード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二重円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Optional（Safe</a:t>
                      </a: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 Stop</a:t>
                      </a: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へ遷移）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130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遷移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矢印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黒矢印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条件式ラベル付き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799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条件ラベル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テキスト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灰色 </a:t>
                      </a:r>
                      <a:r>
                        <a:rPr lang="en-US" altLang="ja-JP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(#666)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温度条件など記入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562205"/>
                  </a:ext>
                </a:extLst>
              </a:tr>
            </a:tbl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D2C4051-C53C-8B9A-7707-54556BB12583}"/>
              </a:ext>
            </a:extLst>
          </p:cNvPr>
          <p:cNvSpPr txBox="1"/>
          <p:nvPr/>
        </p:nvSpPr>
        <p:spPr>
          <a:xfrm>
            <a:off x="3388462" y="3444648"/>
            <a:ext cx="452262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【</a:t>
            </a:r>
            <a:r>
              <a:rPr lang="ja-JP" altLang="en-US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推奨</a:t>
            </a:r>
            <a:r>
              <a:rPr lang="en-US" altLang="ja-JP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Draw.io</a:t>
            </a:r>
            <a:r>
              <a:rPr lang="ja-JP" altLang="en-US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構成</a:t>
            </a:r>
            <a:r>
              <a:rPr lang="en-US" altLang="ja-JP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】</a:t>
            </a:r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84F88B18-876F-8DA2-51EA-2CC47230B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823369"/>
              </p:ext>
            </p:extLst>
          </p:nvPr>
        </p:nvGraphicFramePr>
        <p:xfrm>
          <a:off x="3388462" y="3802625"/>
          <a:ext cx="7992000" cy="2451305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1858821427"/>
                    </a:ext>
                  </a:extLst>
                </a:gridCol>
                <a:gridCol w="3168000">
                  <a:extLst>
                    <a:ext uri="{9D8B030D-6E8A-4147-A177-3AD203B41FA5}">
                      <a16:colId xmlns:a16="http://schemas.microsoft.com/office/drawing/2014/main" val="814325658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4252582768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3427322009"/>
                    </a:ext>
                  </a:extLst>
                </a:gridCol>
              </a:tblGrid>
              <a:tr h="222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From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Condition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To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Action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718841"/>
                  </a:ext>
                </a:extLst>
              </a:tr>
              <a:tr h="317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Normal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current_temp</a:t>
                      </a: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 &gt; </a:t>
                      </a:r>
                      <a:r>
                        <a:rPr lang="en-US" sz="100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high_temp_threshold</a:t>
                      </a:r>
                      <a:endParaRPr lang="en-US" sz="10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HighTempControl</a:t>
                      </a:r>
                      <a:endParaRPr lang="en-US" sz="10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Activate cooling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341362"/>
                  </a:ext>
                </a:extLst>
              </a:tr>
              <a:tr h="317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Normal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current_temp</a:t>
                      </a: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 &lt; </a:t>
                      </a:r>
                      <a:r>
                        <a:rPr lang="en-US" sz="100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low_temp_threshold</a:t>
                      </a:r>
                      <a:endParaRPr lang="en-US" sz="10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LowTempControl</a:t>
                      </a:r>
                      <a:endParaRPr lang="en-US" sz="10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Activate heating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410273"/>
                  </a:ext>
                </a:extLst>
              </a:tr>
              <a:tr h="317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Normal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current_temp</a:t>
                      </a: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 ≠ </a:t>
                      </a:r>
                      <a:r>
                        <a:rPr lang="en-US" sz="100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target_temp</a:t>
                      </a:r>
                      <a:endParaRPr lang="en-US" sz="10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OptimalCharge</a:t>
                      </a:r>
                      <a:endParaRPr lang="en-US" sz="10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Adjust temp toward target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969141"/>
                  </a:ext>
                </a:extLst>
              </a:tr>
              <a:tr h="317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Any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fault_detected</a:t>
                      </a: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 == true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SafeStop</a:t>
                      </a:r>
                      <a:endParaRPr lang="en-US" sz="10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Stop charging, issue warning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200501"/>
                  </a:ext>
                </a:extLst>
              </a:tr>
              <a:tr h="317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HighTempControl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current_temp ≤ high_temp_threshold - hysteresis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Normal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Stop cooling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353853"/>
                  </a:ext>
                </a:extLst>
              </a:tr>
              <a:tr h="317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LowTempControl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current_temp ≥ low_temp_threshold + hysteresis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Normal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Stop heating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259914"/>
                  </a:ext>
                </a:extLst>
              </a:tr>
              <a:tr h="317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OptimalCharge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fabs(current_temp - target_temp) &lt; tolerance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Normal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Stop adjustment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9128571"/>
                  </a:ext>
                </a:extLst>
              </a:tr>
            </a:tbl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9365543-A009-5C17-DEC0-9FE31E266969}"/>
              </a:ext>
            </a:extLst>
          </p:cNvPr>
          <p:cNvSpPr txBox="1"/>
          <p:nvPr/>
        </p:nvSpPr>
        <p:spPr>
          <a:xfrm>
            <a:off x="554123" y="982694"/>
            <a:ext cx="15892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>
                <a:solidFill>
                  <a:srgbClr val="0070C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【</a:t>
            </a:r>
            <a:r>
              <a:rPr kumimoji="1" lang="ja-JP" altLang="en-US" sz="1200" b="1">
                <a:solidFill>
                  <a:srgbClr val="0070C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図のタイトル</a:t>
            </a:r>
            <a:r>
              <a:rPr kumimoji="1" lang="en-US" altLang="ja-JP" sz="1200" b="1">
                <a:solidFill>
                  <a:srgbClr val="0070C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】</a:t>
            </a:r>
            <a:endParaRPr kumimoji="1" lang="ja-JP" altLang="en-US" sz="1200" b="1">
              <a:solidFill>
                <a:srgbClr val="0070C0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045FF04-4EF8-36E0-25F8-F7CF2C4136E5}"/>
              </a:ext>
            </a:extLst>
          </p:cNvPr>
          <p:cNvSpPr txBox="1"/>
          <p:nvPr/>
        </p:nvSpPr>
        <p:spPr>
          <a:xfrm>
            <a:off x="1934217" y="1005777"/>
            <a:ext cx="41081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Battery Temperature Control – State Transition Diagram</a:t>
            </a:r>
            <a:endParaRPr kumimoji="1" lang="ja-JP" altLang="en-US" sz="110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E4F206-10FD-6D38-AFC2-8E3EF23F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885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2F7B4B-5016-6084-64EB-4ABC1549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/>
              <a:t>DFD</a:t>
            </a:r>
            <a:r>
              <a:rPr lang="ja-JP" altLang="en-US"/>
              <a:t>（データフローダイアグラム）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A307C09-CC52-D946-4FF0-52304AE7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65549"/>
            <a:ext cx="7411278" cy="5374869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A455AA1-C83A-F674-015A-7D87C2401746}"/>
              </a:ext>
            </a:extLst>
          </p:cNvPr>
          <p:cNvSpPr txBox="1"/>
          <p:nvPr/>
        </p:nvSpPr>
        <p:spPr>
          <a:xfrm>
            <a:off x="8634244" y="986881"/>
            <a:ext cx="29717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battery_temp_control_dfd_level0.drawio</a:t>
            </a:r>
            <a:endParaRPr kumimoji="1" lang="ja-JP" altLang="en-US" sz="110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713B52-9E37-4A24-2068-B21D9F17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7640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63A469-0810-4489-A0F8-87813908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参考：</a:t>
            </a:r>
            <a:r>
              <a:rPr lang="en-US" altLang="ja-JP"/>
              <a:t>DFD</a:t>
            </a:r>
            <a:r>
              <a:rPr lang="ja-JP" altLang="en-US"/>
              <a:t>（データフローダイアグラム）テンプレート</a:t>
            </a:r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C11E8D0-6B99-D3E4-1724-490868FACB2D}"/>
              </a:ext>
            </a:extLst>
          </p:cNvPr>
          <p:cNvSpPr txBox="1"/>
          <p:nvPr/>
        </p:nvSpPr>
        <p:spPr>
          <a:xfrm>
            <a:off x="554123" y="982694"/>
            <a:ext cx="15892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>
                <a:solidFill>
                  <a:srgbClr val="0070C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【</a:t>
            </a:r>
            <a:r>
              <a:rPr kumimoji="1" lang="ja-JP" altLang="en-US" sz="1200" b="1">
                <a:solidFill>
                  <a:srgbClr val="0070C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図のタイトル</a:t>
            </a:r>
            <a:r>
              <a:rPr kumimoji="1" lang="en-US" altLang="ja-JP" sz="1200" b="1">
                <a:solidFill>
                  <a:srgbClr val="0070C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】</a:t>
            </a:r>
            <a:endParaRPr kumimoji="1" lang="ja-JP" altLang="en-US" sz="1200" b="1">
              <a:solidFill>
                <a:srgbClr val="0070C0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29B5973-70F0-B715-AA1F-F6BF2A374E59}"/>
              </a:ext>
            </a:extLst>
          </p:cNvPr>
          <p:cNvSpPr txBox="1"/>
          <p:nvPr/>
        </p:nvSpPr>
        <p:spPr>
          <a:xfrm>
            <a:off x="1934218" y="1005777"/>
            <a:ext cx="325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Battery Temperature Control – Level 0 DFD</a:t>
            </a:r>
            <a:endParaRPr kumimoji="1" lang="ja-JP" altLang="en-US" sz="110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7865B8C-A1B0-EA77-3A45-A08033D8C900}"/>
              </a:ext>
            </a:extLst>
          </p:cNvPr>
          <p:cNvSpPr txBox="1"/>
          <p:nvPr/>
        </p:nvSpPr>
        <p:spPr>
          <a:xfrm>
            <a:off x="554124" y="1259693"/>
            <a:ext cx="15892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b="1">
                <a:solidFill>
                  <a:srgbClr val="0070C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【</a:t>
            </a:r>
            <a:r>
              <a:rPr kumimoji="1" lang="ja-JP" altLang="en-US" sz="1200" b="1">
                <a:solidFill>
                  <a:srgbClr val="0070C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主な構成要素</a:t>
            </a:r>
            <a:r>
              <a:rPr kumimoji="1" lang="en-US" altLang="zh-TW" sz="1200" b="1">
                <a:solidFill>
                  <a:srgbClr val="0070C0"/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】</a:t>
            </a:r>
            <a:endParaRPr kumimoji="1" lang="ja-JP" altLang="en-US" sz="1200" b="1">
              <a:solidFill>
                <a:srgbClr val="0070C0"/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5176F63A-5836-F134-54A0-FF439B70E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087518"/>
              </p:ext>
            </p:extLst>
          </p:nvPr>
        </p:nvGraphicFramePr>
        <p:xfrm>
          <a:off x="750418" y="1544386"/>
          <a:ext cx="7611120" cy="12192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332000">
                  <a:extLst>
                    <a:ext uri="{9D8B030D-6E8A-4147-A177-3AD203B41FA5}">
                      <a16:colId xmlns:a16="http://schemas.microsoft.com/office/drawing/2014/main" val="2244100051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320485346"/>
                    </a:ext>
                  </a:extLst>
                </a:gridCol>
                <a:gridCol w="2412000">
                  <a:extLst>
                    <a:ext uri="{9D8B030D-6E8A-4147-A177-3AD203B41FA5}">
                      <a16:colId xmlns:a16="http://schemas.microsoft.com/office/drawing/2014/main" val="22312632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71520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要素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種類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図形（</a:t>
                      </a: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Draw.io）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名称例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8950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外部エンティティ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四角形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CAN Bus, User Interface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温度データ送信元、設定入力など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197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プロセス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楕円または角丸長方形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Battery Temp Control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主制御ループ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687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データストア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平行線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Threshold Config, State Variables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閾値や状態記録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133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データフロー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矢印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双方向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データ入出力線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079997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9D4E34A-D51B-F05C-DEDA-954757B8C258}"/>
              </a:ext>
            </a:extLst>
          </p:cNvPr>
          <p:cNvSpPr txBox="1"/>
          <p:nvPr/>
        </p:nvSpPr>
        <p:spPr>
          <a:xfrm>
            <a:off x="663855" y="2934571"/>
            <a:ext cx="3973982" cy="3477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┌──────────────┐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│   CAN Bus (外部エンティティ) │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└──────────────┘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         │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         │ ① 温度データ (Battery Temp)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         ▼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┌────────────────────────┐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│  P1: Battery Temp Control Logic       │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│  - Monitor temperature                │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│  - Evaluate thresholds                │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│  - Control heater/cooler outputs      │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│  - Update state                       │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└────────────────────────┘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         │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         │ ② Control Output (Heater/Cooler)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         ▼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┌──────────────┐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│ Actuator (外部) │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└──────────────┘</a:t>
            </a:r>
          </a:p>
          <a:p>
            <a:endParaRPr lang="ja-JP" altLang="en-US" sz="100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P1 ⇄ Threshold Config (閾値設定)</a:t>
            </a:r>
          </a:p>
          <a:p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P1 ⇄ State Variables (状態記録)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955074C-0CBF-3195-7B90-8C6EBA88DA16}"/>
              </a:ext>
            </a:extLst>
          </p:cNvPr>
          <p:cNvSpPr txBox="1"/>
          <p:nvPr/>
        </p:nvSpPr>
        <p:spPr>
          <a:xfrm>
            <a:off x="8673127" y="982694"/>
            <a:ext cx="316931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ja-JP" sz="1200" b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【Level 1 </a:t>
            </a:r>
            <a:r>
              <a:rPr lang="ja-JP" altLang="en-US" sz="1200" b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例（詳細分解）</a:t>
            </a:r>
            <a:r>
              <a:rPr lang="en-US" altLang="ja-JP" sz="1200" b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】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000" b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P1.1:</a:t>
            </a:r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Temperature Acquisition</a:t>
            </a:r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（温度取得）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000" b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P1.2:</a:t>
            </a:r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State Evaluation</a:t>
            </a:r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（状態判定）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000" b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P1.3:</a:t>
            </a:r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Control Output Calculation</a:t>
            </a:r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（制御量計算）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000" b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P1.4:</a:t>
            </a:r>
            <a:r>
              <a:rPr lang="en-US" altLang="ja-JP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Safety Monitoring</a:t>
            </a:r>
            <a:r>
              <a:rPr lang="ja-JP" altLang="en-US" sz="10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（安全監視）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B4AC9A9-FBA1-0B7E-913F-6D293C7A0405}"/>
              </a:ext>
            </a:extLst>
          </p:cNvPr>
          <p:cNvSpPr txBox="1"/>
          <p:nvPr/>
        </p:nvSpPr>
        <p:spPr>
          <a:xfrm>
            <a:off x="4861256" y="2934571"/>
            <a:ext cx="452262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【</a:t>
            </a:r>
            <a:r>
              <a:rPr lang="ja-JP" altLang="en-US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推奨</a:t>
            </a:r>
            <a:r>
              <a:rPr lang="en-US" altLang="ja-JP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Draw.io</a:t>
            </a:r>
            <a:r>
              <a:rPr lang="ja-JP" altLang="en-US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構成</a:t>
            </a:r>
            <a:r>
              <a:rPr lang="en-US" altLang="ja-JP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】</a:t>
            </a:r>
          </a:p>
        </p:txBody>
      </p:sp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D71461C8-0575-98EF-14ED-72962411A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631257"/>
              </p:ext>
            </p:extLst>
          </p:nvPr>
        </p:nvGraphicFramePr>
        <p:xfrm>
          <a:off x="4861256" y="3317494"/>
          <a:ext cx="6516000" cy="146304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4016087726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81923534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566123612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14347053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要素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図形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推奨色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備考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260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プロセス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角丸長方形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#d1f0d1（</a:t>
                      </a: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薄緑）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各処理ブロック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5597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外部エンティティ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長方形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#fce5cd（</a:t>
                      </a: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薄橙）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CAN・UI</a:t>
                      </a: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など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315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データストア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平行線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#f0f0f0（</a:t>
                      </a: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灰）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状態や設定値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950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データフロー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矢印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黒 </a:t>
                      </a:r>
                      <a:r>
                        <a:rPr 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or </a:t>
                      </a: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濃青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データ流向を明確に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0235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テキストラベル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通常テキスト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#333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矢印ラベルを小さく記載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777006"/>
                  </a:ext>
                </a:extLst>
              </a:tr>
            </a:tbl>
          </a:graphicData>
        </a:graphic>
      </p:graphicFrame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1372607-C7CB-9D86-3876-3BB0C63D1BB8}"/>
              </a:ext>
            </a:extLst>
          </p:cNvPr>
          <p:cNvSpPr txBox="1"/>
          <p:nvPr/>
        </p:nvSpPr>
        <p:spPr>
          <a:xfrm>
            <a:off x="4861256" y="4899581"/>
            <a:ext cx="452262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ja-JP" altLang="en-US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参考ファイル構造（</a:t>
            </a:r>
            <a:r>
              <a:rPr lang="en-US" altLang="ja-JP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Draw.io</a:t>
            </a:r>
            <a:r>
              <a:rPr lang="ja-JP" altLang="en-US" sz="1200">
                <a:solidFill>
                  <a:schemeClr val="accent6">
                    <a:lumMod val="75000"/>
                  </a:schemeClr>
                </a:solidFill>
                <a:latin typeface="BIZ UDゴシック" panose="020B0400000000000000" pitchFamily="49" charset="-128"/>
                <a:ea typeface="BIZ UDゴシック" panose="020B0400000000000000" pitchFamily="49" charset="-128"/>
              </a:rPr>
              <a:t>保存用の命名）</a:t>
            </a:r>
            <a:endParaRPr lang="en-US" altLang="ja-JP" sz="1200">
              <a:solidFill>
                <a:schemeClr val="accent6">
                  <a:lumMod val="75000"/>
                </a:schemeClr>
              </a:solidFill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A2E0BCE-A2C7-1272-85F1-D239A8805AD3}"/>
              </a:ext>
            </a:extLst>
          </p:cNvPr>
          <p:cNvSpPr txBox="1"/>
          <p:nvPr/>
        </p:nvSpPr>
        <p:spPr>
          <a:xfrm>
            <a:off x="4789627" y="5275141"/>
            <a:ext cx="45942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battery_temp_control/</a:t>
            </a:r>
          </a:p>
          <a:p>
            <a:r>
              <a:rPr lang="ja-JP" altLang="en-US" sz="11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├── uml_state_transition.drawio</a:t>
            </a:r>
          </a:p>
          <a:p>
            <a:r>
              <a:rPr lang="ja-JP" altLang="en-US" sz="11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├── dfd_level0.drawio</a:t>
            </a:r>
          </a:p>
          <a:p>
            <a:r>
              <a:rPr lang="ja-JP" altLang="en-US" sz="11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 └── dfd_level1_detail.drawio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196FD99-E727-8593-EA6C-D45AA8363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261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080C15-9A64-6F60-EABA-9325B14AD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使用ライブラリ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E054EF-65C3-08B9-FB0E-AFE674C1B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6</a:t>
            </a:fld>
            <a:endParaRPr kumimoji="1" lang="ja-JP" altLang="en-US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DB4555DD-1E44-3AD8-01B2-04F77AD02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264177"/>
              </p:ext>
            </p:extLst>
          </p:nvPr>
        </p:nvGraphicFramePr>
        <p:xfrm>
          <a:off x="673768" y="1101733"/>
          <a:ext cx="9423133" cy="18288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2088193">
                  <a:extLst>
                    <a:ext uri="{9D8B030D-6E8A-4147-A177-3AD203B41FA5}">
                      <a16:colId xmlns:a16="http://schemas.microsoft.com/office/drawing/2014/main" val="6935548"/>
                    </a:ext>
                  </a:extLst>
                </a:gridCol>
                <a:gridCol w="1762660">
                  <a:extLst>
                    <a:ext uri="{9D8B030D-6E8A-4147-A177-3AD203B41FA5}">
                      <a16:colId xmlns:a16="http://schemas.microsoft.com/office/drawing/2014/main" val="2184599737"/>
                    </a:ext>
                  </a:extLst>
                </a:gridCol>
                <a:gridCol w="1762660">
                  <a:extLst>
                    <a:ext uri="{9D8B030D-6E8A-4147-A177-3AD203B41FA5}">
                      <a16:colId xmlns:a16="http://schemas.microsoft.com/office/drawing/2014/main" val="2311469129"/>
                    </a:ext>
                  </a:extLst>
                </a:gridCol>
                <a:gridCol w="3809620">
                  <a:extLst>
                    <a:ext uri="{9D8B030D-6E8A-4147-A177-3AD203B41FA5}">
                      <a16:colId xmlns:a16="http://schemas.microsoft.com/office/drawing/2014/main" val="754341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名称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目的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言語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備考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055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simple-pid</a:t>
                      </a: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温度管理</a:t>
                      </a: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PID</a:t>
                      </a:r>
                      <a:endParaRPr 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DFD</a:t>
                      </a: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（データフローダイアグラム）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76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transitions</a:t>
                      </a: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状態遷移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Python</a:t>
                      </a: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UML</a:t>
                      </a: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状態遷移図（</a:t>
                      </a: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State Machine Diagram</a:t>
                      </a: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808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130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799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ja-JP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ja-JP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562205"/>
                  </a:ext>
                </a:extLst>
              </a:tr>
            </a:tbl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8219CE7D-5F9D-B9DE-AA1F-6266F40F8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778988"/>
              </p:ext>
            </p:extLst>
          </p:nvPr>
        </p:nvGraphicFramePr>
        <p:xfrm>
          <a:off x="673768" y="3429000"/>
          <a:ext cx="10070940" cy="18288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2944075">
                  <a:extLst>
                    <a:ext uri="{9D8B030D-6E8A-4147-A177-3AD203B41FA5}">
                      <a16:colId xmlns:a16="http://schemas.microsoft.com/office/drawing/2014/main" val="6935548"/>
                    </a:ext>
                  </a:extLst>
                </a:gridCol>
                <a:gridCol w="1769166">
                  <a:extLst>
                    <a:ext uri="{9D8B030D-6E8A-4147-A177-3AD203B41FA5}">
                      <a16:colId xmlns:a16="http://schemas.microsoft.com/office/drawing/2014/main" val="2184599737"/>
                    </a:ext>
                  </a:extLst>
                </a:gridCol>
                <a:gridCol w="1548079">
                  <a:extLst>
                    <a:ext uri="{9D8B030D-6E8A-4147-A177-3AD203B41FA5}">
                      <a16:colId xmlns:a16="http://schemas.microsoft.com/office/drawing/2014/main" val="2311469129"/>
                    </a:ext>
                  </a:extLst>
                </a:gridCol>
                <a:gridCol w="3809620">
                  <a:extLst>
                    <a:ext uri="{9D8B030D-6E8A-4147-A177-3AD203B41FA5}">
                      <a16:colId xmlns:a16="http://schemas.microsoft.com/office/drawing/2014/main" val="754341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名称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目的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言語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備考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055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1"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BatteryTemperatureControl .py</a:t>
                      </a: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バッテリ温度制御</a:t>
                      </a:r>
                      <a:endParaRPr 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Python</a:t>
                      </a: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状態遷移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76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808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130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799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ja-JP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ja-JP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562205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B894B55-F6E2-E309-9D7E-14D06D7DD178}"/>
              </a:ext>
            </a:extLst>
          </p:cNvPr>
          <p:cNvSpPr txBox="1"/>
          <p:nvPr/>
        </p:nvSpPr>
        <p:spPr>
          <a:xfrm>
            <a:off x="363836" y="3048961"/>
            <a:ext cx="325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バッテリ温度制御モジュール</a:t>
            </a:r>
          </a:p>
        </p:txBody>
      </p:sp>
    </p:spTree>
    <p:extLst>
      <p:ext uri="{BB962C8B-B14F-4D97-AF65-F5344CB8AC3E}">
        <p14:creationId xmlns:p14="http://schemas.microsoft.com/office/powerpoint/2010/main" val="880899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6FAFBA-C184-155C-795E-6E2E78F6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/>
              <a:t>method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134482A-A0E1-241D-F93C-C26AA4D9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7</a:t>
            </a:fld>
            <a:endParaRPr kumimoji="1" lang="ja-JP" altLang="en-US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0C41E811-3044-1E4D-5DA8-369066B6F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362660"/>
              </p:ext>
            </p:extLst>
          </p:nvPr>
        </p:nvGraphicFramePr>
        <p:xfrm>
          <a:off x="673768" y="1101733"/>
          <a:ext cx="11044430" cy="18288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2052000">
                  <a:extLst>
                    <a:ext uri="{9D8B030D-6E8A-4147-A177-3AD203B41FA5}">
                      <a16:colId xmlns:a16="http://schemas.microsoft.com/office/drawing/2014/main" val="6935548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184599737"/>
                    </a:ext>
                  </a:extLst>
                </a:gridCol>
                <a:gridCol w="1229560">
                  <a:extLst>
                    <a:ext uri="{9D8B030D-6E8A-4147-A177-3AD203B41FA5}">
                      <a16:colId xmlns:a16="http://schemas.microsoft.com/office/drawing/2014/main" val="2311469129"/>
                    </a:ext>
                  </a:extLst>
                </a:gridCol>
                <a:gridCol w="1142775">
                  <a:extLst>
                    <a:ext uri="{9D8B030D-6E8A-4147-A177-3AD203B41FA5}">
                      <a16:colId xmlns:a16="http://schemas.microsoft.com/office/drawing/2014/main" val="754341625"/>
                    </a:ext>
                  </a:extLst>
                </a:gridCol>
                <a:gridCol w="4172095">
                  <a:extLst>
                    <a:ext uri="{9D8B030D-6E8A-4147-A177-3AD203B41FA5}">
                      <a16:colId xmlns:a16="http://schemas.microsoft.com/office/drawing/2014/main" val="1960738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名称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目的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言語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戻り値型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意味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055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is_temp_high()</a:t>
                      </a: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S2:</a:t>
                      </a: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高温制御 に移るべきか</a:t>
                      </a:r>
                      <a:endParaRPr 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Bool</a:t>
                      </a: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TRUE:</a:t>
                      </a: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入力温度</a:t>
                      </a: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&gt;</a:t>
                      </a: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高温閾値</a:t>
                      </a: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76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is_temp_low()</a:t>
                      </a: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S3:</a:t>
                      </a: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低温制御 に移るべきか</a:t>
                      </a:r>
                      <a:endParaRPr kumimoji="1" lang="en-US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Bool</a:t>
                      </a: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TRUE:</a:t>
                      </a: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入力温度＜低温</a:t>
                      </a: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閾値</a:t>
                      </a: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808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is_temp_normal()</a:t>
                      </a: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S1:</a:t>
                      </a:r>
                      <a:r>
                        <a:rPr kumimoji="1" lang="ja-JP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通常監視 に戻るべきか</a:t>
                      </a:r>
                      <a:endParaRPr kumimoji="1" lang="en-US" altLang="ja-JP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Bool</a:t>
                      </a: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TRUE:</a:t>
                      </a: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入力温度</a:t>
                      </a: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=</a:t>
                      </a: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最適充電温度</a:t>
                      </a:r>
                      <a:r>
                        <a:rPr lang="en-US" altLang="ja-JP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±</a:t>
                      </a:r>
                      <a:r>
                        <a:rPr lang="ja-JP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範囲内</a:t>
                      </a: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130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is_temp_arart()</a:t>
                      </a: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E8:</a:t>
                      </a: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警告表示に移るべきか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Bool</a:t>
                      </a:r>
                      <a:endParaRPr kumimoji="1" lang="ja-JP" alt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799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is_temp_error_Stop()</a:t>
                      </a: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E9:</a:t>
                      </a:r>
                      <a:r>
                        <a:rPr lang="ja-JP" altLang="en-US" sz="14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エラー停止に移るべきか</a:t>
                      </a:r>
                      <a:endParaRPr lang="en-US" altLang="ja-JP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Bool</a:t>
                      </a:r>
                      <a:endParaRPr kumimoji="1" lang="ja-JP" alt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IZ UDゴシック" panose="020B0400000000000000" pitchFamily="49" charset="-128"/>
                        <a:ea typeface="BIZ UDゴシック" panose="020B0400000000000000" pitchFamily="49" charset="-128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ja-JP" altLang="en-US" sz="14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562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349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1846</TotalTime>
  <Words>1288</Words>
  <Application>Microsoft Office PowerPoint</Application>
  <PresentationFormat>ワイド画面</PresentationFormat>
  <Paragraphs>322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BIZ UDゴシック</vt:lpstr>
      <vt:lpstr>游ゴシック</vt:lpstr>
      <vt:lpstr>Aptos</vt:lpstr>
      <vt:lpstr>Aptos Display</vt:lpstr>
      <vt:lpstr>Arial</vt:lpstr>
      <vt:lpstr>Office テーマ</vt:lpstr>
      <vt:lpstr>バッテリーパックの温度制御仕様（演習）</vt:lpstr>
      <vt:lpstr>UML状態遷移図（State Machine Diagram）</vt:lpstr>
      <vt:lpstr>参考：UML状態遷移図テンプレート（State Machine Diagram）</vt:lpstr>
      <vt:lpstr>DFD（データフローダイアグラム）</vt:lpstr>
      <vt:lpstr>参考：DFD（データフローダイアグラム）テンプレート</vt:lpstr>
      <vt:lpstr>使用ライブラリ</vt:lpstr>
      <vt:lpstr>method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Y</dc:creator>
  <cp:lastModifiedBy>K Y</cp:lastModifiedBy>
  <cp:revision>37</cp:revision>
  <dcterms:created xsi:type="dcterms:W3CDTF">2012-07-27T23:28:17Z</dcterms:created>
  <dcterms:modified xsi:type="dcterms:W3CDTF">2025-10-21T08:16:06Z</dcterms:modified>
</cp:coreProperties>
</file>