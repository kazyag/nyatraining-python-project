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8"/>
  </p:notesMasterIdLst>
  <p:sldIdLst>
    <p:sldId id="258" r:id="rId2"/>
    <p:sldId id="259" r:id="rId3"/>
    <p:sldId id="262" r:id="rId4"/>
    <p:sldId id="267" r:id="rId5"/>
    <p:sldId id="263" r:id="rId6"/>
    <p:sldId id="268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淡色スタイル 2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中間スタイル 1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8D230F3-CF80-4859-8CE7-A43EE81993B5}" styleName="淡色スタイル 1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淡色スタイル 3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08FB837D-C827-4EFA-A057-4D05807E0F7C}" styleName="テーマ スタイル 1 - アクセント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テーマ スタイル 2 - アクセント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99" d="100"/>
          <a:sy n="99" d="100"/>
        </p:scale>
        <p:origin x="72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C962EE-CD8D-4B91-A3DD-4C699082EA73}" type="datetimeFigureOut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AFA7D8-649E-4267-B317-F9A8624761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4381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F9F5B-2404-485D-A870-3651691CD6B5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9106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830A0-5797-4E39-976B-196EBC8F12A5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0515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FFB79-61C9-4C9B-BB39-B3ADC33410DC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3904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5C774-0875-42EB-AD6C-A573C6182984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5402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FFEB-CD38-4777-8454-30081785CFFF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7884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33451"/>
          </a:xfrm>
        </p:spPr>
        <p:txBody>
          <a:bodyPr>
            <a:normAutofit/>
          </a:bodyPr>
          <a:lstStyle>
            <a:lvl1pPr>
              <a:defRPr sz="2800" baseline="0">
                <a:latin typeface="Arial" panose="020B0604020202020204" pitchFamily="34" charset="0"/>
                <a:ea typeface="BIZ UDゴシック" panose="020B0400000000000000" pitchFamily="49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7B12B-7CA0-4414-AEAA-6D0AACA2052F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9588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D3D29A-C4E2-4B84-B7FB-8D55DDD89BA5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2860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CAB33-5415-4090-AE1B-2B4E589E017F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8451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6552B-56D1-4206-BF32-17E96CC146D1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9387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7C4F4-5A8E-4D77-ABBE-A0BE847775D5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5747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AB05E-20D0-482C-BB40-3584160A1784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0866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9ECCA8-2BE2-481B-9A14-A01B368CD589}" type="datetime1">
              <a:rPr kumimoji="1" lang="ja-JP" altLang="en-US" smtClean="0"/>
              <a:t>2025/10/20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7289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DEE70D-6CE1-4419-F5AB-2B5565D70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>
                <a:ea typeface="+mj-lt"/>
                <a:cs typeface="+mj-lt"/>
              </a:rPr>
              <a:t>バッテリーパックの温度制御仕様</a:t>
            </a:r>
            <a:r>
              <a:rPr lang="ja-JP" altLang="en-US">
                <a:ea typeface="+mj-lt"/>
                <a:cs typeface="+mj-lt"/>
              </a:rPr>
              <a:t>（演習）</a:t>
            </a:r>
            <a:endParaRPr lang="ja-JP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5B6D274-A95C-F322-B318-8BBE3624B729}"/>
              </a:ext>
            </a:extLst>
          </p:cNvPr>
          <p:cNvSpPr txBox="1"/>
          <p:nvPr/>
        </p:nvSpPr>
        <p:spPr>
          <a:xfrm>
            <a:off x="921600" y="1527148"/>
            <a:ext cx="833593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目的：バッテリーパックの温度を安全かつ効率的に制御し、充電最適温度に誘導する</a:t>
            </a:r>
            <a:endParaRPr kumimoji="1" lang="en-US" altLang="ja-JP"/>
          </a:p>
          <a:p>
            <a:r>
              <a:rPr kumimoji="1" lang="ja-JP" altLang="en-US"/>
              <a:t>対象：バッテリーパック（複数セル構成）</a:t>
            </a:r>
          </a:p>
          <a:p>
            <a:r>
              <a:rPr kumimoji="1" lang="ja-JP" altLang="en-US"/>
              <a:t>制御方式：状態遷移＋パラメトリック制御（温度変化量に応じた制御）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986B3F0-BDD3-1A02-56C8-D06D834A312E}"/>
              </a:ext>
            </a:extLst>
          </p:cNvPr>
          <p:cNvSpPr txBox="1"/>
          <p:nvPr/>
        </p:nvSpPr>
        <p:spPr>
          <a:xfrm>
            <a:off x="921600" y="967223"/>
            <a:ext cx="2853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演習用に仮の仕様を考える</a:t>
            </a:r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973A64C-B7A4-2178-4D34-784BD2C162E6}"/>
              </a:ext>
            </a:extLst>
          </p:cNvPr>
          <p:cNvSpPr txBox="1"/>
          <p:nvPr/>
        </p:nvSpPr>
        <p:spPr>
          <a:xfrm>
            <a:off x="756027" y="2748687"/>
            <a:ext cx="1059777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CAN</a:t>
            </a:r>
            <a:r>
              <a:rPr kumimoji="1" lang="ja-JP" altLang="en-US"/>
              <a:t>から取得したバッテリ温度を監視して、その温度に従ってバッテリ温度を変化させる制御を行います</a:t>
            </a:r>
            <a:r>
              <a:rPr lang="ja-JP" altLang="en-US"/>
              <a:t>。</a:t>
            </a:r>
            <a:endParaRPr lang="en-US" altLang="ja-JP"/>
          </a:p>
          <a:p>
            <a:r>
              <a:rPr kumimoji="1" lang="ja-JP" altLang="en-US"/>
              <a:t>ただし、セル温度が閾値を超えた場合には冷却させる方向に進めます。</a:t>
            </a:r>
            <a:endParaRPr kumimoji="1" lang="en-US" altLang="ja-JP"/>
          </a:p>
          <a:p>
            <a:r>
              <a:rPr kumimoji="1" lang="ja-JP" altLang="en-US"/>
              <a:t>冷却も上昇もすぐに変化させず、目的温度まで一定の時間を使って遷移させます。 </a:t>
            </a:r>
            <a:endParaRPr kumimoji="1" lang="en-US" altLang="ja-JP"/>
          </a:p>
          <a:p>
            <a:r>
              <a:rPr kumimoji="1" lang="ja-JP" altLang="en-US"/>
              <a:t>目的温度に達したら通常監視モードに繊維します。 まずはこれだけで、次のステップで異常処理を考えます。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BA4DFDA-7412-555F-CDE3-7D84E38A1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59840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2B0761-9678-5D8E-F7EF-884AACB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/>
              <a:t>UML</a:t>
            </a:r>
            <a:r>
              <a:rPr lang="ja-JP" altLang="en-US"/>
              <a:t>状態遷移図（</a:t>
            </a:r>
            <a:r>
              <a:rPr lang="en-US" altLang="ja-JP"/>
              <a:t>State Machine Diagram</a:t>
            </a:r>
            <a:r>
              <a:rPr lang="ja-JP" altLang="en-US"/>
              <a:t>）</a:t>
            </a:r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2658D565-D455-7F00-15C9-528359E412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7066856"/>
              </p:ext>
            </p:extLst>
          </p:nvPr>
        </p:nvGraphicFramePr>
        <p:xfrm>
          <a:off x="7978021" y="1174982"/>
          <a:ext cx="3561310" cy="1956405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623288">
                  <a:extLst>
                    <a:ext uri="{9D8B030D-6E8A-4147-A177-3AD203B41FA5}">
                      <a16:colId xmlns:a16="http://schemas.microsoft.com/office/drawing/2014/main" val="293804515"/>
                    </a:ext>
                  </a:extLst>
                </a:gridCol>
                <a:gridCol w="1100881">
                  <a:extLst>
                    <a:ext uri="{9D8B030D-6E8A-4147-A177-3AD203B41FA5}">
                      <a16:colId xmlns:a16="http://schemas.microsoft.com/office/drawing/2014/main" val="1492560074"/>
                    </a:ext>
                  </a:extLst>
                </a:gridCol>
                <a:gridCol w="1837141">
                  <a:extLst>
                    <a:ext uri="{9D8B030D-6E8A-4147-A177-3AD203B41FA5}">
                      <a16:colId xmlns:a16="http://schemas.microsoft.com/office/drawing/2014/main" val="1518261795"/>
                    </a:ext>
                  </a:extLst>
                </a:gridCol>
              </a:tblGrid>
              <a:tr h="942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100" b="1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状態</a:t>
                      </a:r>
                      <a:endParaRPr lang="ja-JP" altLang="en-US" sz="1100" b="1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名称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125363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defTabSz="582613" fontAlgn="ctr">
                        <a:buNone/>
                        <a:tabLst>
                          <a:tab pos="1792288" algn="l"/>
                        </a:tabLst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（初期動作）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STATE_NORMAL_MONITOR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520146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defTabSz="582613" fontAlgn="ctr">
                        <a:buNone/>
                        <a:tabLst>
                          <a:tab pos="1792288" algn="l"/>
                        </a:tabLst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通常監視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STATE_NORMAL_MONITOR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2327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高温制御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STATE_HIGH_TEMP_CTRL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902601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低温制御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STATE_LOW_TEMP_CTRL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391092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最適充電誘導</a:t>
                      </a:r>
                      <a:endParaRPr lang="zh-TW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STATE_CHARGE_GUIDE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8404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異常警告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STATE_SAFE_ALART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298067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安全停止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STATE_SAFE_STOP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6621162"/>
                  </a:ext>
                </a:extLst>
              </a:tr>
            </a:tbl>
          </a:graphicData>
        </a:graphic>
      </p:graphicFrame>
      <p:pic>
        <p:nvPicPr>
          <p:cNvPr id="7" name="図 6">
            <a:extLst>
              <a:ext uri="{FF2B5EF4-FFF2-40B4-BE49-F238E27FC236}">
                <a16:creationId xmlns:a16="http://schemas.microsoft.com/office/drawing/2014/main" id="{38DC1517-518E-02B5-CC15-C5CCF914FE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105" y="805434"/>
            <a:ext cx="6238000" cy="3456612"/>
          </a:xfrm>
          <a:prstGeom prst="rect">
            <a:avLst/>
          </a:prstGeom>
        </p:spPr>
      </p:pic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1813B1D6-7047-4ABA-FAB3-115D504CFA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653889"/>
              </p:ext>
            </p:extLst>
          </p:nvPr>
        </p:nvGraphicFramePr>
        <p:xfrm>
          <a:off x="3816626" y="4084497"/>
          <a:ext cx="7957746" cy="2506602"/>
        </p:xfrm>
        <a:graphic>
          <a:graphicData uri="http://schemas.openxmlformats.org/drawingml/2006/table">
            <a:tbl>
              <a:tblPr/>
              <a:tblGrid>
                <a:gridCol w="826646">
                  <a:extLst>
                    <a:ext uri="{9D8B030D-6E8A-4147-A177-3AD203B41FA5}">
                      <a16:colId xmlns:a16="http://schemas.microsoft.com/office/drawing/2014/main" val="4290680726"/>
                    </a:ext>
                  </a:extLst>
                </a:gridCol>
                <a:gridCol w="923471">
                  <a:extLst>
                    <a:ext uri="{9D8B030D-6E8A-4147-A177-3AD203B41FA5}">
                      <a16:colId xmlns:a16="http://schemas.microsoft.com/office/drawing/2014/main" val="1573855749"/>
                    </a:ext>
                  </a:extLst>
                </a:gridCol>
                <a:gridCol w="2801412">
                  <a:extLst>
                    <a:ext uri="{9D8B030D-6E8A-4147-A177-3AD203B41FA5}">
                      <a16:colId xmlns:a16="http://schemas.microsoft.com/office/drawing/2014/main" val="830740857"/>
                    </a:ext>
                  </a:extLst>
                </a:gridCol>
                <a:gridCol w="2709563">
                  <a:extLst>
                    <a:ext uri="{9D8B030D-6E8A-4147-A177-3AD203B41FA5}">
                      <a16:colId xmlns:a16="http://schemas.microsoft.com/office/drawing/2014/main" val="1433760504"/>
                    </a:ext>
                  </a:extLst>
                </a:gridCol>
                <a:gridCol w="696654">
                  <a:extLst>
                    <a:ext uri="{9D8B030D-6E8A-4147-A177-3AD203B41FA5}">
                      <a16:colId xmlns:a16="http://schemas.microsoft.com/office/drawing/2014/main" val="1999121049"/>
                    </a:ext>
                  </a:extLst>
                </a:gridCol>
              </a:tblGrid>
              <a:tr h="19774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EventNo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FromTo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遷移条件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Do (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動作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57749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S0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起動時処理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情報の初期化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36421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S1 → S4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最適充電温度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&lt;&gt;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現在温度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温度変化量に従って加熱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/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冷却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26444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S1 → S3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現在温度 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&lt; 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低温閾値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加熱制御（ヒーター）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891499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S1 → S2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現在温度 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&gt; 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ｓ高温閾値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冷却制御（ファン・冷却材）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7891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S4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温度制御処理実施完了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温度制御処理実施開始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38595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S3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加熱制御処理実施完了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加熱制御処理実施開始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86824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S2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冷却制御処理実施完了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冷却制御処理実施開始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0140678"/>
                  </a:ext>
                </a:extLst>
              </a:tr>
              <a:tr h="190500">
                <a:tc row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→S5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停止温度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&gt;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セル温度＞</a:t>
                      </a:r>
                      <a:r>
                        <a:rPr lang="zh-TW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高温警報出力閾値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警告出力</a:t>
                      </a:r>
                      <a:endParaRPr lang="en-US" altLang="ja-JP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予約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3015958"/>
                  </a:ext>
                </a:extLst>
              </a:tr>
              <a:tr h="190500">
                <a:tc v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→S5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停止温度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&gt;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セル温度＞</a:t>
                      </a:r>
                      <a:r>
                        <a:rPr lang="zh-TW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低温警報出力閾値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警告出力</a:t>
                      </a:r>
                      <a:endParaRPr lang="en-US" altLang="ja-JP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51128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S5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警告出力条件解除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警告解除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予約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8936559"/>
                  </a:ext>
                </a:extLst>
              </a:tr>
              <a:tr h="190500">
                <a:tc row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E10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→S6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セル温度＞停止温度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充電停止・警告出力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452185"/>
                  </a:ext>
                </a:extLst>
              </a:tr>
              <a:tr h="190500">
                <a:tc v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→S6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センサ異常停止条件成立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充電停止・警告出力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予約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6642199"/>
                  </a:ext>
                </a:extLst>
              </a:tr>
            </a:tbl>
          </a:graphicData>
        </a:graphic>
      </p:graphicFrame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4BE279E-A868-AED5-3B6C-15632079C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4039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4B0A6D-8774-4559-FC13-E4B5D742E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/>
              <a:t>参考：</a:t>
            </a:r>
            <a:r>
              <a:rPr lang="en-US" altLang="ja-JP"/>
              <a:t>UML</a:t>
            </a:r>
            <a:r>
              <a:rPr lang="ja-JP" altLang="en-US"/>
              <a:t>状態遷移図テンプレート（</a:t>
            </a:r>
            <a:r>
              <a:rPr lang="en-US" altLang="ja-JP"/>
              <a:t>State Machine Diagram</a:t>
            </a:r>
            <a:r>
              <a:rPr lang="ja-JP" altLang="en-US"/>
              <a:t>）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4637583-D507-7DE8-8E89-823B1E6D20B7}"/>
              </a:ext>
            </a:extLst>
          </p:cNvPr>
          <p:cNvSpPr txBox="1"/>
          <p:nvPr/>
        </p:nvSpPr>
        <p:spPr>
          <a:xfrm>
            <a:off x="737007" y="1609344"/>
            <a:ext cx="2130551" cy="35086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状態（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State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）ノード：</a:t>
            </a:r>
            <a:endParaRPr lang="en-US" altLang="ja-JP" sz="1200">
              <a:solidFill>
                <a:schemeClr val="accent6">
                  <a:lumMod val="75000"/>
                </a:schemeClr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[Normal Monitoring]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温度 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&gt;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高温閾値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[High Temp Control]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温度が範囲内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[Normal Monitoring]</a:t>
            </a:r>
          </a:p>
          <a:p>
            <a:endParaRPr lang="en-US" altLang="ja-JP" sz="10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[Normal Monitoring]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温度 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&lt;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低温閾値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[Low Temp Control]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温度が範囲内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[Normal Monitoring]</a:t>
            </a:r>
          </a:p>
          <a:p>
            <a:endParaRPr lang="en-US" altLang="ja-JP" sz="10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[Normal Monitoring]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目標温度 ≠ 現在温度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[Optimal Charge Guidance]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現在温度 ≒ 目標温度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[Normal Monitoring]</a:t>
            </a:r>
          </a:p>
          <a:p>
            <a:endParaRPr lang="en-US" altLang="ja-JP" sz="10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任意の状態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セル異常 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or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センサ異常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[Safe Stop]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B7B16BE-E5E1-AA12-D825-2F8DAA6FCD5B}"/>
              </a:ext>
            </a:extLst>
          </p:cNvPr>
          <p:cNvSpPr txBox="1"/>
          <p:nvPr/>
        </p:nvSpPr>
        <p:spPr>
          <a:xfrm>
            <a:off x="554124" y="1259693"/>
            <a:ext cx="15892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kumimoji="1" lang="zh-TW" altLang="en-US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基本構成要素</a:t>
            </a:r>
            <a:r>
              <a:rPr kumimoji="1" lang="en-US" altLang="zh-TW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  <a:endParaRPr kumimoji="1" lang="ja-JP" altLang="en-US" sz="1200" b="1">
              <a:solidFill>
                <a:srgbClr val="0070C0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C995E3E-BD68-D19E-5140-02BA1D602CAB}"/>
              </a:ext>
            </a:extLst>
          </p:cNvPr>
          <p:cNvSpPr txBox="1"/>
          <p:nvPr/>
        </p:nvSpPr>
        <p:spPr>
          <a:xfrm>
            <a:off x="3388462" y="1567286"/>
            <a:ext cx="4522622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推奨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Draw.io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構成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339A4601-D726-1A7D-ED34-E9FE921692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4127466"/>
              </p:ext>
            </p:extLst>
          </p:nvPr>
        </p:nvGraphicFramePr>
        <p:xfrm>
          <a:off x="3388462" y="1900630"/>
          <a:ext cx="5635205" cy="146304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919205">
                  <a:extLst>
                    <a:ext uri="{9D8B030D-6E8A-4147-A177-3AD203B41FA5}">
                      <a16:colId xmlns:a16="http://schemas.microsoft.com/office/drawing/2014/main" val="6935548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3837817976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184599737"/>
                    </a:ext>
                  </a:extLst>
                </a:gridCol>
                <a:gridCol w="2412000">
                  <a:extLst>
                    <a:ext uri="{9D8B030D-6E8A-4147-A177-3AD203B41FA5}">
                      <a16:colId xmlns:a16="http://schemas.microsoft.com/office/drawing/2014/main" val="7543416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要素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図形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色（推奨）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備考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3055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状態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長方形（角丸）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淡い</a:t>
                      </a:r>
                      <a:r>
                        <a:rPr lang="en-US" altLang="ja-JP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(#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cce5ff)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各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ノード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3765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開始ノード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円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Start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8088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終了ノード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二重円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Optional（Safe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Stop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へ遷移）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1305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遷移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矢印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黒矢印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条件式ラベル付き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90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条件ラベル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テキスト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灰色 </a:t>
                      </a:r>
                      <a:r>
                        <a:rPr lang="en-US" altLang="ja-JP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(#666)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温度条件など記入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562205"/>
                  </a:ext>
                </a:extLst>
              </a:tr>
            </a:tbl>
          </a:graphicData>
        </a:graphic>
      </p:graphicFrame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D2C4051-C53C-8B9A-7707-54556BB12583}"/>
              </a:ext>
            </a:extLst>
          </p:cNvPr>
          <p:cNvSpPr txBox="1"/>
          <p:nvPr/>
        </p:nvSpPr>
        <p:spPr>
          <a:xfrm>
            <a:off x="3388462" y="3444648"/>
            <a:ext cx="4522622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推奨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Draw.io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構成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</a:p>
        </p:txBody>
      </p:sp>
      <p:graphicFrame>
        <p:nvGraphicFramePr>
          <p:cNvPr id="18" name="表 17">
            <a:extLst>
              <a:ext uri="{FF2B5EF4-FFF2-40B4-BE49-F238E27FC236}">
                <a16:creationId xmlns:a16="http://schemas.microsoft.com/office/drawing/2014/main" id="{84F88B18-876F-8DA2-51EA-2CC47230BB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9823369"/>
              </p:ext>
            </p:extLst>
          </p:nvPr>
        </p:nvGraphicFramePr>
        <p:xfrm>
          <a:off x="3388462" y="3802625"/>
          <a:ext cx="7992000" cy="2451305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1368000">
                  <a:extLst>
                    <a:ext uri="{9D8B030D-6E8A-4147-A177-3AD203B41FA5}">
                      <a16:colId xmlns:a16="http://schemas.microsoft.com/office/drawing/2014/main" val="1858821427"/>
                    </a:ext>
                  </a:extLst>
                </a:gridCol>
                <a:gridCol w="3168000">
                  <a:extLst>
                    <a:ext uri="{9D8B030D-6E8A-4147-A177-3AD203B41FA5}">
                      <a16:colId xmlns:a16="http://schemas.microsoft.com/office/drawing/2014/main" val="814325658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4252582768"/>
                    </a:ext>
                  </a:extLst>
                </a:gridCol>
                <a:gridCol w="2124000">
                  <a:extLst>
                    <a:ext uri="{9D8B030D-6E8A-4147-A177-3AD203B41FA5}">
                      <a16:colId xmlns:a16="http://schemas.microsoft.com/office/drawing/2014/main" val="3427322009"/>
                    </a:ext>
                  </a:extLst>
                </a:gridCol>
              </a:tblGrid>
              <a:tr h="2228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From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Condition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To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Action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3718841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Normal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current_temp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&gt; </a:t>
                      </a: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high_temp_threshold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HighTempControl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Activate cooling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1341362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Normal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current_temp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&lt; </a:t>
                      </a: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low_temp_threshold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LowTempControl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Activate heating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410273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Normal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current_temp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≠ </a:t>
                      </a: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target_temp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OptimalCharge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Adjust temp toward target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4969141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Any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fault_detected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== true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SafeStop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Stop charging, issue warning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8200501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HighTempControl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current_temp ≤ high_temp_threshold - hysteresis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Normal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Stop cooling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4353853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LowTempControl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current_temp ≥ low_temp_threshold + hysteresis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Normal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Stop heating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259914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OptimalCharge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fabs(current_temp - target_temp) &lt; tolerance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Normal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Stop adjustment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9128571"/>
                  </a:ext>
                </a:extLst>
              </a:tr>
            </a:tbl>
          </a:graphicData>
        </a:graphic>
      </p:graphicFrame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9365543-A009-5C17-DEC0-9FE31E266969}"/>
              </a:ext>
            </a:extLst>
          </p:cNvPr>
          <p:cNvSpPr txBox="1"/>
          <p:nvPr/>
        </p:nvSpPr>
        <p:spPr>
          <a:xfrm>
            <a:off x="554123" y="982694"/>
            <a:ext cx="15892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kumimoji="1" lang="ja-JP" altLang="en-US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図のタイトル</a:t>
            </a:r>
            <a:r>
              <a:rPr kumimoji="1" lang="en-US" altLang="ja-JP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  <a:endParaRPr kumimoji="1" lang="ja-JP" altLang="en-US" sz="1200" b="1">
              <a:solidFill>
                <a:srgbClr val="0070C0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045FF04-4EF8-36E0-25F8-F7CF2C4136E5}"/>
              </a:ext>
            </a:extLst>
          </p:cNvPr>
          <p:cNvSpPr txBox="1"/>
          <p:nvPr/>
        </p:nvSpPr>
        <p:spPr>
          <a:xfrm>
            <a:off x="1934217" y="1005777"/>
            <a:ext cx="41081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Battery Temperature Control – State Transition Diagram</a:t>
            </a:r>
            <a:endParaRPr kumimoji="1" lang="ja-JP" altLang="en-US" sz="11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4E4F206-10FD-6D38-AFC2-8E3EF23FC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856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2F7B4B-5016-6084-64EB-4ABC15493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/>
              <a:t>DFD</a:t>
            </a:r>
            <a:r>
              <a:rPr lang="ja-JP" altLang="en-US"/>
              <a:t>（データフローダイアグラム）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A307C09-CC52-D946-4FF0-52304AE7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965549"/>
            <a:ext cx="7411278" cy="5374869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A455AA1-C83A-F674-015A-7D87C2401746}"/>
              </a:ext>
            </a:extLst>
          </p:cNvPr>
          <p:cNvSpPr txBox="1"/>
          <p:nvPr/>
        </p:nvSpPr>
        <p:spPr>
          <a:xfrm>
            <a:off x="8634244" y="986881"/>
            <a:ext cx="297176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battery_temp_control_dfd_level0.drawio</a:t>
            </a:r>
            <a:endParaRPr kumimoji="1" lang="ja-JP" altLang="en-US" sz="11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4713B52-9E37-4A24-2068-B21D9F174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76406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63A469-0810-4489-A0F8-87813908A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/>
              <a:t>参考：</a:t>
            </a:r>
            <a:r>
              <a:rPr lang="en-US" altLang="ja-JP"/>
              <a:t>DFD</a:t>
            </a:r>
            <a:r>
              <a:rPr lang="ja-JP" altLang="en-US"/>
              <a:t>（データフローダイアグラム）テンプレート</a:t>
            </a:r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C11E8D0-6B99-D3E4-1724-490868FACB2D}"/>
              </a:ext>
            </a:extLst>
          </p:cNvPr>
          <p:cNvSpPr txBox="1"/>
          <p:nvPr/>
        </p:nvSpPr>
        <p:spPr>
          <a:xfrm>
            <a:off x="554123" y="982694"/>
            <a:ext cx="15892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kumimoji="1" lang="ja-JP" altLang="en-US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図のタイトル</a:t>
            </a:r>
            <a:r>
              <a:rPr kumimoji="1" lang="en-US" altLang="ja-JP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  <a:endParaRPr kumimoji="1" lang="ja-JP" altLang="en-US" sz="1200" b="1">
              <a:solidFill>
                <a:srgbClr val="0070C0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29B5973-70F0-B715-AA1F-F6BF2A374E59}"/>
              </a:ext>
            </a:extLst>
          </p:cNvPr>
          <p:cNvSpPr txBox="1"/>
          <p:nvPr/>
        </p:nvSpPr>
        <p:spPr>
          <a:xfrm>
            <a:off x="1934218" y="1005777"/>
            <a:ext cx="32522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Battery Temperature Control – Level 0 DFD</a:t>
            </a:r>
            <a:endParaRPr kumimoji="1" lang="ja-JP" altLang="en-US" sz="11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7865B8C-A1B0-EA77-3A45-A08033D8C900}"/>
              </a:ext>
            </a:extLst>
          </p:cNvPr>
          <p:cNvSpPr txBox="1"/>
          <p:nvPr/>
        </p:nvSpPr>
        <p:spPr>
          <a:xfrm>
            <a:off x="554124" y="1259693"/>
            <a:ext cx="15892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kumimoji="1" lang="ja-JP" altLang="en-US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主な構成要素</a:t>
            </a:r>
            <a:r>
              <a:rPr kumimoji="1" lang="en-US" altLang="zh-TW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  <a:endParaRPr kumimoji="1" lang="ja-JP" altLang="en-US" sz="1200" b="1">
              <a:solidFill>
                <a:srgbClr val="0070C0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5176F63A-5836-F134-54A0-FF439B70E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4087518"/>
              </p:ext>
            </p:extLst>
          </p:nvPr>
        </p:nvGraphicFramePr>
        <p:xfrm>
          <a:off x="750418" y="1544386"/>
          <a:ext cx="7611120" cy="12192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1332000">
                  <a:extLst>
                    <a:ext uri="{9D8B030D-6E8A-4147-A177-3AD203B41FA5}">
                      <a16:colId xmlns:a16="http://schemas.microsoft.com/office/drawing/2014/main" val="2244100051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320485346"/>
                    </a:ext>
                  </a:extLst>
                </a:gridCol>
                <a:gridCol w="2412000">
                  <a:extLst>
                    <a:ext uri="{9D8B030D-6E8A-4147-A177-3AD203B41FA5}">
                      <a16:colId xmlns:a16="http://schemas.microsoft.com/office/drawing/2014/main" val="2231263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6715200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要素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種類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図形（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Draw.io）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名称例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8950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外部エンティティ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四角形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CAN Bus, User Interface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温度データ送信元、設定入力など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1973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プロセス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楕円または角丸長方形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Battery Temp Control Logic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主制御ループ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76878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データストア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平行線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Threshold Config, State Variables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閾値や状態記録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21339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データフロー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矢印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双方向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データ入出力線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1079997"/>
                  </a:ext>
                </a:extLst>
              </a:tr>
            </a:tbl>
          </a:graphicData>
        </a:graphic>
      </p:graphicFrame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9D4E34A-D51B-F05C-DEDA-954757B8C258}"/>
              </a:ext>
            </a:extLst>
          </p:cNvPr>
          <p:cNvSpPr txBox="1"/>
          <p:nvPr/>
        </p:nvSpPr>
        <p:spPr>
          <a:xfrm>
            <a:off x="663855" y="2934571"/>
            <a:ext cx="3973982" cy="3477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┌──────────────┐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  CAN Bus (外部エンティティ)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└──────────────┘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   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         │ ① 温度データ (Battery Temp)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         ▼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┌────────────────────────┐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 P1: Battery Temp Control Logic 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 - Monitor temperature          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 - Evaluate thresholds          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 - Control heater/cooler outputs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 - Update state                 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└────────────────────────┘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   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         │ ② Control Output (Heater/Cooler)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         ▼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┌──────────────┐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Actuator (外部)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└──────────────┘</a:t>
            </a:r>
          </a:p>
          <a:p>
            <a:endParaRPr lang="ja-JP" altLang="en-US" sz="10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P1 ⇄ Threshold Config (閾値設定)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P1 ⇄ State Variables (状態記録)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955074C-0CBF-3195-7B90-8C6EBA88DA16}"/>
              </a:ext>
            </a:extLst>
          </p:cNvPr>
          <p:cNvSpPr txBox="1"/>
          <p:nvPr/>
        </p:nvSpPr>
        <p:spPr>
          <a:xfrm>
            <a:off x="8673127" y="982694"/>
            <a:ext cx="316931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ja-JP" sz="12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【Level 1 </a:t>
            </a:r>
            <a:r>
              <a:rPr lang="ja-JP" altLang="en-US" sz="12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例（詳細分解）</a:t>
            </a:r>
            <a:r>
              <a:rPr lang="en-US" altLang="ja-JP" sz="12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ja-JP" sz="10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P1.1: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Temperature Acquisition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（温度取得）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ja-JP" sz="10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P1.2: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State Evaluation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（状態判定）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ja-JP" sz="10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P1.3: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Control Output Calculation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（制御量計算）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ja-JP" sz="10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P1.4: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Safety Monitoring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（安全監視）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B4AC9A9-FBA1-0B7E-913F-6D293C7A0405}"/>
              </a:ext>
            </a:extLst>
          </p:cNvPr>
          <p:cNvSpPr txBox="1"/>
          <p:nvPr/>
        </p:nvSpPr>
        <p:spPr>
          <a:xfrm>
            <a:off x="4861256" y="2934571"/>
            <a:ext cx="4522622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推奨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Draw.io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構成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</a:p>
        </p:txBody>
      </p:sp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D71461C8-0575-98EF-14ED-72962411AB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1631257"/>
              </p:ext>
            </p:extLst>
          </p:nvPr>
        </p:nvGraphicFramePr>
        <p:xfrm>
          <a:off x="4861256" y="3317494"/>
          <a:ext cx="6516000" cy="146304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4016087726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3819235343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566123612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14347053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要素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図形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推奨色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備考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260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プロセス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角丸長方形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#d1f0d1（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薄緑）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各処理ブロック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55972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外部エンティティ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長方形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#fce5cd（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薄橙）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CAN・UI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など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315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データストア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平行線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#f0f0f0（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灰）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状態や設定値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950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データフロー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矢印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黒 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or 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濃青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データ流向を明確に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02358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テキストラベル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通常テキスト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#333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矢印ラベルを小さく記載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4777006"/>
                  </a:ext>
                </a:extLst>
              </a:tr>
            </a:tbl>
          </a:graphicData>
        </a:graphic>
      </p:graphicFrame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1372607-C7CB-9D86-3876-3BB0C63D1BB8}"/>
              </a:ext>
            </a:extLst>
          </p:cNvPr>
          <p:cNvSpPr txBox="1"/>
          <p:nvPr/>
        </p:nvSpPr>
        <p:spPr>
          <a:xfrm>
            <a:off x="4861256" y="4899581"/>
            <a:ext cx="4522622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参考ファイル構造（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Draw.io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保存用の命名）</a:t>
            </a:r>
            <a:endParaRPr lang="en-US" altLang="ja-JP" sz="1200">
              <a:solidFill>
                <a:schemeClr val="accent6">
                  <a:lumMod val="75000"/>
                </a:schemeClr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4A2E0BCE-A2C7-1272-85F1-D239A8805AD3}"/>
              </a:ext>
            </a:extLst>
          </p:cNvPr>
          <p:cNvSpPr txBox="1"/>
          <p:nvPr/>
        </p:nvSpPr>
        <p:spPr>
          <a:xfrm>
            <a:off x="4789627" y="5275141"/>
            <a:ext cx="459425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battery_temp_control/</a:t>
            </a:r>
          </a:p>
          <a:p>
            <a:r>
              <a:rPr lang="ja-JP" altLang="en-US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├── uml_state_transition.drawio</a:t>
            </a:r>
          </a:p>
          <a:p>
            <a:r>
              <a:rPr lang="ja-JP" altLang="en-US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├── dfd_level0.drawio</a:t>
            </a:r>
          </a:p>
          <a:p>
            <a:r>
              <a:rPr lang="ja-JP" altLang="en-US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└── dfd_level1_detail.drawio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196FD99-E727-8593-EA6C-D45AA8363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261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080C15-9A64-6F60-EABA-9325B14AD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/>
              <a:t>使用ライブラリ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BE054EF-65C3-08B9-FB0E-AFE674C1B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6</a:t>
            </a:fld>
            <a:endParaRPr kumimoji="1" lang="ja-JP" altLang="en-US"/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DB4555DD-1E44-3AD8-01B2-04F77AD020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5433503"/>
              </p:ext>
            </p:extLst>
          </p:nvPr>
        </p:nvGraphicFramePr>
        <p:xfrm>
          <a:off x="673768" y="1101733"/>
          <a:ext cx="8296977" cy="204216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1838634">
                  <a:extLst>
                    <a:ext uri="{9D8B030D-6E8A-4147-A177-3AD203B41FA5}">
                      <a16:colId xmlns:a16="http://schemas.microsoft.com/office/drawing/2014/main" val="6935548"/>
                    </a:ext>
                  </a:extLst>
                </a:gridCol>
                <a:gridCol w="1552005">
                  <a:extLst>
                    <a:ext uri="{9D8B030D-6E8A-4147-A177-3AD203B41FA5}">
                      <a16:colId xmlns:a16="http://schemas.microsoft.com/office/drawing/2014/main" val="2184599737"/>
                    </a:ext>
                  </a:extLst>
                </a:gridCol>
                <a:gridCol w="1552005">
                  <a:extLst>
                    <a:ext uri="{9D8B030D-6E8A-4147-A177-3AD203B41FA5}">
                      <a16:colId xmlns:a16="http://schemas.microsoft.com/office/drawing/2014/main" val="2311469129"/>
                    </a:ext>
                  </a:extLst>
                </a:gridCol>
                <a:gridCol w="3354333">
                  <a:extLst>
                    <a:ext uri="{9D8B030D-6E8A-4147-A177-3AD203B41FA5}">
                      <a16:colId xmlns:a16="http://schemas.microsoft.com/office/drawing/2014/main" val="7543416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名称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目的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言語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備考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3055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simple-pid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温度管理</a:t>
                      </a: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PID</a:t>
                      </a:r>
                      <a:endParaRPr 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DFD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（データフローダイアグラム）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3765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transitions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状態遷移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Python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UML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状態遷移図（</a:t>
                      </a: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 Machine Diagram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8088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随時更新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1305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90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ja-JP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ja-JP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5622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0899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1474</TotalTime>
  <Words>1162</Words>
  <Application>Microsoft Office PowerPoint</Application>
  <PresentationFormat>ワイド画面</PresentationFormat>
  <Paragraphs>284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2" baseType="lpstr">
      <vt:lpstr>BIZ UDゴシック</vt:lpstr>
      <vt:lpstr>游ゴシック</vt:lpstr>
      <vt:lpstr>Aptos</vt:lpstr>
      <vt:lpstr>Aptos Display</vt:lpstr>
      <vt:lpstr>Arial</vt:lpstr>
      <vt:lpstr>Office テーマ</vt:lpstr>
      <vt:lpstr>バッテリーパックの温度制御仕様（演習）</vt:lpstr>
      <vt:lpstr>UML状態遷移図（State Machine Diagram）</vt:lpstr>
      <vt:lpstr>参考：UML状態遷移図テンプレート（State Machine Diagram）</vt:lpstr>
      <vt:lpstr>DFD（データフローダイアグラム）</vt:lpstr>
      <vt:lpstr>参考：DFD（データフローダイアグラム）テンプレート</vt:lpstr>
      <vt:lpstr>使用ライブラリ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 Y</dc:creator>
  <cp:lastModifiedBy>K Y</cp:lastModifiedBy>
  <cp:revision>27</cp:revision>
  <dcterms:created xsi:type="dcterms:W3CDTF">2012-07-27T23:28:17Z</dcterms:created>
  <dcterms:modified xsi:type="dcterms:W3CDTF">2025-10-20T07:12:51Z</dcterms:modified>
</cp:coreProperties>
</file>